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00.xml" ContentType="application/vnd.openxmlformats-officedocument.presentationml.slide+xml"/>
  <Override PartName="/ppt/slides/slide901.xml" ContentType="application/vnd.openxmlformats-officedocument.presentationml.slide+xml"/>
  <Override PartName="/ppt/slides/slide90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343" r:id="rId2"/>
    <p:sldId id="345" r:id="rId3"/>
    <p:sldId id="346" r:id="rId11"/>
    <p:sldId id="347" r:id="rId10"/>
    <p:sldId id="348" r:id="rId9"/>
    <p:sldId id="349" r:id="rId8"/>
    <p:sldId id="350" r:id="rId7"/>
    <p:sldId id="351" r:id="rId6"/>
    <p:sldId id="352" r:id="rId5"/>
    <p:sldId id="353" r:id="rId4"/>
    <p:sldId id="354" r:id="rId19"/>
    <p:sldId id="355" r:id="rId20"/>
    <p:sldId id="356" r:id="rId21"/>
    <p:sldId id="34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AEFF7"/>
          </a:solidFill>
        </a:fill>
      </a:tcStyle>
    </a:wholeTbl>
    <a:band1H>
      <a:tcStyle>
        <a:tcBdr/>
        <a:fill>
          <a:solidFill>
            <a:srgbClr val="D2DEEF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D2DEEF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5B9BD5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5B9BD5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5B9BD5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5B9BD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00.xml"/><Relationship Id="rId3" Type="http://schemas.openxmlformats.org/officeDocument/2006/relationships/slide" Target="slides/slide901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7.xml"/><Relationship Id="rId9" Type="http://schemas.openxmlformats.org/officeDocument/2006/relationships/slide" Target="slides/slide6.xml"/><Relationship Id="rId10" Type="http://schemas.openxmlformats.org/officeDocument/2006/relationships/slide" Target="slides/slide5.xml"/><Relationship Id="rId11" Type="http://schemas.openxmlformats.org/officeDocument/2006/relationships/slide" Target="slides/slide4.xml"/><Relationship Id="rId12" Type="http://schemas.openxmlformats.org/officeDocument/2006/relationships/slide" Target="slides/slide902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 i="0">
                <a:solidFill>
                  <a:srgbClr val="44546A"/>
                </a:solidFill>
                <a:latin typeface="Calibri"/>
              </a:rPr>
              <a:t>Average RMSE in °C (lower is better)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Persistence baseline (tomorrow = today)</c:v>
                </c:pt>
              </c:strCache>
            </c:strRef>
          </c:tx>
          <c:spPr>
            <a:solidFill>
              <a:srgbClr val="A5A5A5"/>
            </a:solidFill>
          </c:spPr>
          <c:cat>
            <c:strRef>
              <c:f>Sheet1!$A$2:$A$3</c:f>
              <c:strCache>
                <c:ptCount val="2"/>
                <c:pt idx="0">
                  <c:v>Test split</c:v>
                </c:pt>
                <c:pt idx="1">
                  <c:v>Unseen data (2025-26)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2.09</c:v>
                </c:pt>
                <c:pt idx="1">
                  <c:v>2.62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LSTM</c:v>
                </c:pt>
              </c:strCache>
            </c:strRef>
          </c:tx>
          <c:spPr>
            <a:solidFill>
              <a:srgbClr val="5B9BD5"/>
            </a:solidFill>
          </c:spPr>
          <c:cat>
            <c:strRef>
              <c:f>Sheet1!$A$2:$A$3</c:f>
              <c:strCache>
                <c:ptCount val="2"/>
                <c:pt idx="0">
                  <c:v>Test split</c:v>
                </c:pt>
                <c:pt idx="1">
                  <c:v>Unseen data (2025-26)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1.88</c:v>
                </c:pt>
                <c:pt idx="1">
                  <c:v>2.3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 b="1">
                  <a:solidFill>
                    <a:srgbClr val="44546A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44546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0"/>
          <c:min val="0.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44546A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CD85D32-CE22-C630-7835-1913FAF95B5D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38C57D-023C-DFDF-AA36-0E4FD435B743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310482B-C678-4A94-AB9E-F7E732FE0F8B}" type="datetime1">
              <a:rPr lang="en-IN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11-10-2026</a:t>
            </a:fld>
            <a:endParaRPr lang="en-IN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EE8202-72A3-2366-9A8B-ECA99CD02ECE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768E26-E8A6-11AA-BA65-93DEA14BAE34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A7C350B-DEFB-4093-AD61-18CC35E7C226}" type="slidenum">
              <a:t>‹#›</a:t>
            </a:fld>
            <a:endParaRPr lang="en-IN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192709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EF4D29D-21A5-A0EA-1F8F-380CF80F998F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96E60-FE86-B843-B828-2CC991D12DB5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9F4BF004-6E29-412D-8FED-6B4539EB9360}" type="datetime1">
              <a:rPr lang="en-IN"/>
              <a:pPr lvl="0"/>
              <a:t>11-10-2026</a:t>
            </a:fld>
            <a:endParaRPr lang="en-IN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8AEC5B2-63DA-752B-90D4-6533720B16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AFFC68B-A654-E014-96C6-AFB2F8352BE4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623F71-8350-9EDD-F09B-643BCDD0044D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1E3AE-A7B3-CCD4-B9C9-9F3A7C84117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18C52089-CFDF-4E65-9255-64C0864828CA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955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13C17-A901-51D8-E71E-EA2AFCDAA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15129D-0C6D-42A6-FA3E-B060087DA4B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Intro: what I built over the last weeks, end to end, from a forecast model to a deployed chat assistant.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FEDF2-EAB0-C597-1E1E-F08AD1CDF31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C8E0B2FE-725A-49A1-BB6D-875EAD537FFD}" type="slidenum"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kinds of questions: what happened (history) and what will happen (forecast). The LLM alone would guess, so every answer must come from a tool with real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lanes. Train: GitHub Actions fetches data, trains, gates, uploads to S3. Ship: a second workflow builds one Docker image and deploys it to EC2. Serve: React on Vercel, a small proxy, FastAPI and the LangGraph agent with its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baseline simply repeats today's temperature. A model is only worth deploying if it beats that. LSTM beat it on every one of the 7 days, and still held up on 2025-26 data it never saw.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Instead of indexing raw CSV tables, I generated readable Markdown documents from the data, so each chunk answers one kind of question. 3 cities gave 546 chunks.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LLM never answers from memory. It decides which tool to call, reads the result, and loops until it has enough to answer. ask_user lets it stop and ask, then resume from the same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choice was about keeping the system simple enough for one person to run, while still being production-like.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model-training.yml. If any gate check fails, the job exits with an error and nothing is uploaded, so a bad model can never reach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agent-training.yml. The commit SHA tag means any earlier image can be redeployed if a release goes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of these only showed up once things ran outside my laptop. Each one was found by reading the logs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main takeaways I would apply to the next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 would do next to make this production grade.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cctech.co.in/" TargetMode="External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cctech.co.in/" TargetMode="External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cctech.co.in/" TargetMode="External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cctech.co.in/" TargetMode="External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cctech.co.in/" TargetMode="External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cctech.co.in/" TargetMode="External"/><Relationship Id="rId3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cctech.co.in/" TargetMode="External"/><Relationship Id="rId3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cctech.co.in/" TargetMode="External"/><Relationship Id="rId3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cctech.co.in/" TargetMode="External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cctech.co.in/" TargetMode="External"/><Relationship Id="rId3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cctech.co.in/" TargetMode="External"/><Relationship Id="rId3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cctech.co.in/" TargetMode="External"/><Relationship Id="rId3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cctech.co.in/" TargetMode="External"/><Relationship Id="rId3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cctech.co.in/" TargetMode="External"/><Relationship Id="rId3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cctech.co.in/" TargetMode="External"/><Relationship Id="rId3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cctech.co.in/" TargetMode="External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>
            <a:extLst>
              <a:ext uri="{FF2B5EF4-FFF2-40B4-BE49-F238E27FC236}">
                <a16:creationId xmlns:a16="http://schemas.microsoft.com/office/drawing/2014/main" id="{BB8F17A8-C141-C8C8-BFA8-B530E082390E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EEEEF0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B436590-FC10-B767-BB7A-CA148D2EDB3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2480465"/>
            <a:ext cx="9144000" cy="652460"/>
          </a:xfrm>
        </p:spPr>
        <p:txBody>
          <a:bodyPr anchorCtr="1"/>
          <a:lstStyle>
            <a:lvl1pPr algn="ctr">
              <a:defRPr sz="2800">
                <a:solidFill>
                  <a:srgbClr val="366B9D"/>
                </a:solidFill>
                <a:ea typeface="Lato" pitchFamily="34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EAD9D06-FF43-1C21-34E1-8B0072DF7C0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163046"/>
            <a:ext cx="9144000" cy="634995"/>
          </a:xfrm>
        </p:spPr>
        <p:txBody>
          <a:bodyPr anchor="ctr" anchorCtr="1"/>
          <a:lstStyle>
            <a:lvl1pPr marL="0" indent="0" algn="ctr">
              <a:buNone/>
              <a:defRPr>
                <a:solidFill>
                  <a:srgbClr val="E77817"/>
                </a:solidFill>
                <a:ea typeface="Lato" pitchFamily="34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  <p:cxnSp>
        <p:nvCxnSpPr>
          <p:cNvPr id="5" name="Straight Connector 12">
            <a:extLst>
              <a:ext uri="{FF2B5EF4-FFF2-40B4-BE49-F238E27FC236}">
                <a16:creationId xmlns:a16="http://schemas.microsoft.com/office/drawing/2014/main" id="{721EF453-163B-37F9-1CB6-C9D0C61D5412}"/>
              </a:ext>
            </a:extLst>
          </p:cNvPr>
          <p:cNvCxnSpPr/>
          <p:nvPr/>
        </p:nvCxnSpPr>
        <p:spPr>
          <a:xfrm>
            <a:off x="-12701" y="5939366"/>
            <a:ext cx="12204697" cy="0"/>
          </a:xfrm>
          <a:prstGeom prst="straightConnector1">
            <a:avLst/>
          </a:prstGeom>
          <a:noFill/>
          <a:ln w="6345" cap="flat">
            <a:solidFill>
              <a:srgbClr val="A6A6A6"/>
            </a:solidFill>
            <a:prstDash val="solid"/>
            <a:miter/>
          </a:ln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5E43-E1AA-34F1-7C47-276AA3468C6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5861047" y="6211894"/>
            <a:ext cx="469901" cy="365129"/>
          </a:xfrm>
        </p:spPr>
        <p:txBody>
          <a:bodyPr/>
          <a:lstStyle>
            <a:lvl1pPr>
              <a:defRPr sz="1050">
                <a:ea typeface="Lato" pitchFamily="34"/>
              </a:defRPr>
            </a:lvl1pPr>
          </a:lstStyle>
          <a:p>
            <a:pPr lvl="0"/>
            <a:fld id="{1181076F-F27D-4935-A7A0-CD61A1C5EBA4}" type="slidenum">
              <a:t>‹#›</a:t>
            </a:fld>
            <a:endParaRPr lang="en-IN"/>
          </a:p>
        </p:txBody>
      </p:sp>
      <p:pic>
        <p:nvPicPr>
          <p:cNvPr id="7" name="Picture 22">
            <a:hlinkClick r:id="rId2"/>
            <a:extLst>
              <a:ext uri="{FF2B5EF4-FFF2-40B4-BE49-F238E27FC236}">
                <a16:creationId xmlns:a16="http://schemas.microsoft.com/office/drawing/2014/main" id="{CF1F35F7-BA0C-D15F-D530-5841486AC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59" y="6146733"/>
            <a:ext cx="568802" cy="5045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10">
            <a:extLst>
              <a:ext uri="{FF2B5EF4-FFF2-40B4-BE49-F238E27FC236}">
                <a16:creationId xmlns:a16="http://schemas.microsoft.com/office/drawing/2014/main" id="{ABA0E148-7AB8-053E-436B-6FBA7A928840}"/>
              </a:ext>
            </a:extLst>
          </p:cNvPr>
          <p:cNvSpPr txBox="1"/>
          <p:nvPr/>
        </p:nvSpPr>
        <p:spPr>
          <a:xfrm>
            <a:off x="7889104" y="6193304"/>
            <a:ext cx="3921267" cy="261609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100" b="0" i="0" u="none" strike="noStrike" kern="1200" cap="none" spc="0" baseline="0">
                <a:solidFill>
                  <a:srgbClr val="595959"/>
                </a:solidFill>
                <a:uFillTx/>
                <a:latin typeface="Poppins" pitchFamily="2"/>
                <a:ea typeface="Lato" pitchFamily="34"/>
                <a:cs typeface="Poppins" pitchFamily="2"/>
              </a:rPr>
              <a:t>© Copyright : Centre for Computational Technologies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FE3D0E96-43D2-AFFA-97A6-BF27605F32F6}"/>
              </a:ext>
            </a:extLst>
          </p:cNvPr>
          <p:cNvSpPr/>
          <p:nvPr/>
        </p:nvSpPr>
        <p:spPr>
          <a:xfrm>
            <a:off x="10425961" y="6385511"/>
            <a:ext cx="1401345" cy="26160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100" b="0" i="0" u="none" strike="noStrike" kern="1200" cap="none" spc="0" baseline="0">
                <a:solidFill>
                  <a:srgbClr val="166FA9"/>
                </a:solidFill>
                <a:uFillTx/>
                <a:latin typeface="Poppins" pitchFamily="2"/>
                <a:ea typeface="Lato" pitchFamily="34"/>
                <a:cs typeface="Poppins" pitchFamily="2"/>
              </a:rPr>
              <a:t>www.cctech.co.in</a:t>
            </a:r>
          </a:p>
        </p:txBody>
      </p:sp>
      <p:sp>
        <p:nvSpPr>
          <p:cNvPr id="10" name="Rectangle 13">
            <a:hlinkClick r:id="rId2"/>
            <a:extLst>
              <a:ext uri="{FF2B5EF4-FFF2-40B4-BE49-F238E27FC236}">
                <a16:creationId xmlns:a16="http://schemas.microsoft.com/office/drawing/2014/main" id="{CFAE16A4-316A-B57F-4461-CBCCDA914FEC}"/>
              </a:ext>
            </a:extLst>
          </p:cNvPr>
          <p:cNvSpPr/>
          <p:nvPr/>
        </p:nvSpPr>
        <p:spPr>
          <a:xfrm>
            <a:off x="10512527" y="6445797"/>
            <a:ext cx="1235637" cy="17786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400" b="0" i="0" u="none" strike="noStrike" kern="1200" cap="none" spc="0" baseline="0">
              <a:solidFill>
                <a:srgbClr val="FFFFFF"/>
              </a:solidFill>
              <a:uFillTx/>
              <a:latin typeface="Poppins" pitchFamily="2"/>
              <a:cs typeface="Poppins" pitchFamily="2"/>
            </a:endParaRPr>
          </a:p>
        </p:txBody>
      </p:sp>
      <p:grpSp>
        <p:nvGrpSpPr>
          <p:cNvPr id="11" name="Group 3">
            <a:extLst>
              <a:ext uri="{FF2B5EF4-FFF2-40B4-BE49-F238E27FC236}">
                <a16:creationId xmlns:a16="http://schemas.microsoft.com/office/drawing/2014/main" id="{3793C009-3730-61C1-689E-F1F378B00182}"/>
              </a:ext>
            </a:extLst>
          </p:cNvPr>
          <p:cNvGrpSpPr/>
          <p:nvPr/>
        </p:nvGrpSpPr>
        <p:grpSpPr>
          <a:xfrm>
            <a:off x="10473025" y="-3447"/>
            <a:ext cx="1718980" cy="1145138"/>
            <a:chOff x="10473025" y="-3447"/>
            <a:chExt cx="1718980" cy="1145138"/>
          </a:xfrm>
        </p:grpSpPr>
        <p:sp>
          <p:nvSpPr>
            <p:cNvPr id="12" name="Right Triangle 4">
              <a:extLst>
                <a:ext uri="{FF2B5EF4-FFF2-40B4-BE49-F238E27FC236}">
                  <a16:creationId xmlns:a16="http://schemas.microsoft.com/office/drawing/2014/main" id="{E9E87310-75D4-B9B3-32FD-665EA9D143D6}"/>
                </a:ext>
              </a:extLst>
            </p:cNvPr>
            <p:cNvSpPr/>
            <p:nvPr/>
          </p:nvSpPr>
          <p:spPr>
            <a:xfrm flipH="1" flipV="1">
              <a:off x="10473025" y="0"/>
              <a:ext cx="572569" cy="57256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360"/>
                <a:gd name="f8" fmla="+- 0 0 -180"/>
                <a:gd name="f9" fmla="+- 0 0 -90"/>
                <a:gd name="f10" fmla="abs f3"/>
                <a:gd name="f11" fmla="abs f4"/>
                <a:gd name="f12" fmla="abs f5"/>
                <a:gd name="f13" fmla="val f6"/>
                <a:gd name="f14" fmla="*/ f7 f0 1"/>
                <a:gd name="f15" fmla="*/ f8 f0 1"/>
                <a:gd name="f16" fmla="*/ f9 f0 1"/>
                <a:gd name="f17" fmla="?: f10 f3 1"/>
                <a:gd name="f18" fmla="?: f11 f4 1"/>
                <a:gd name="f19" fmla="?: f12 f5 1"/>
                <a:gd name="f20" fmla="*/ f14 1 f2"/>
                <a:gd name="f21" fmla="*/ f15 1 f2"/>
                <a:gd name="f22" fmla="*/ f16 1 f2"/>
                <a:gd name="f23" fmla="*/ f17 1 21600"/>
                <a:gd name="f24" fmla="*/ f18 1 21600"/>
                <a:gd name="f25" fmla="*/ 21600 f17 1"/>
                <a:gd name="f26" fmla="*/ 21600 f18 1"/>
                <a:gd name="f27" fmla="+- f20 0 f1"/>
                <a:gd name="f28" fmla="+- f21 0 f1"/>
                <a:gd name="f29" fmla="+- f22 0 f1"/>
                <a:gd name="f30" fmla="min f24 f23"/>
                <a:gd name="f31" fmla="*/ f25 1 f19"/>
                <a:gd name="f32" fmla="*/ f26 1 f19"/>
                <a:gd name="f33" fmla="val f31"/>
                <a:gd name="f34" fmla="val f32"/>
                <a:gd name="f35" fmla="*/ f13 f30 1"/>
                <a:gd name="f36" fmla="+- f34 0 f13"/>
                <a:gd name="f37" fmla="+- f33 0 f13"/>
                <a:gd name="f38" fmla="*/ f34 f30 1"/>
                <a:gd name="f39" fmla="*/ f33 f30 1"/>
                <a:gd name="f40" fmla="*/ f36 1 2"/>
                <a:gd name="f41" fmla="*/ f37 1 2"/>
                <a:gd name="f42" fmla="*/ f37 1 12"/>
                <a:gd name="f43" fmla="*/ f36 7 1"/>
                <a:gd name="f44" fmla="*/ f37 7 1"/>
                <a:gd name="f45" fmla="*/ f36 11 1"/>
                <a:gd name="f46" fmla="+- f13 f40 0"/>
                <a:gd name="f47" fmla="+- f13 f41 0"/>
                <a:gd name="f48" fmla="*/ f43 1 12"/>
                <a:gd name="f49" fmla="*/ f44 1 12"/>
                <a:gd name="f50" fmla="*/ f45 1 12"/>
                <a:gd name="f51" fmla="*/ f42 f30 1"/>
                <a:gd name="f52" fmla="*/ f48 f30 1"/>
                <a:gd name="f53" fmla="*/ f49 f30 1"/>
                <a:gd name="f54" fmla="*/ f50 f30 1"/>
                <a:gd name="f55" fmla="*/ f47 f30 1"/>
                <a:gd name="f56" fmla="*/ f46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7">
                  <a:pos x="f35" y="f35"/>
                </a:cxn>
                <a:cxn ang="f28">
                  <a:pos x="f35" y="f38"/>
                </a:cxn>
                <a:cxn ang="f28">
                  <a:pos x="f39" y="f38"/>
                </a:cxn>
                <a:cxn ang="f29">
                  <a:pos x="f55" y="f56"/>
                </a:cxn>
              </a:cxnLst>
              <a:rect l="f51" t="f52" r="f53" b="f54"/>
              <a:pathLst>
                <a:path>
                  <a:moveTo>
                    <a:pt x="f35" y="f38"/>
                  </a:moveTo>
                  <a:lnTo>
                    <a:pt x="f35" y="f35"/>
                  </a:lnTo>
                  <a:lnTo>
                    <a:pt x="f39" y="f38"/>
                  </a:lnTo>
                  <a:close/>
                </a:path>
              </a:pathLst>
            </a:custGeom>
            <a:solidFill>
              <a:srgbClr val="E77817"/>
            </a:solidFill>
            <a:ln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13" name="Right Triangle 5">
              <a:extLst>
                <a:ext uri="{FF2B5EF4-FFF2-40B4-BE49-F238E27FC236}">
                  <a16:creationId xmlns:a16="http://schemas.microsoft.com/office/drawing/2014/main" id="{061E761B-34C7-9AC0-E95B-69B7C0E4C096}"/>
                </a:ext>
              </a:extLst>
            </p:cNvPr>
            <p:cNvSpPr/>
            <p:nvPr/>
          </p:nvSpPr>
          <p:spPr>
            <a:xfrm flipV="1">
              <a:off x="11046866" y="-3447"/>
              <a:ext cx="572569" cy="57256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360"/>
                <a:gd name="f8" fmla="+- 0 0 -180"/>
                <a:gd name="f9" fmla="+- 0 0 -90"/>
                <a:gd name="f10" fmla="abs f3"/>
                <a:gd name="f11" fmla="abs f4"/>
                <a:gd name="f12" fmla="abs f5"/>
                <a:gd name="f13" fmla="val f6"/>
                <a:gd name="f14" fmla="*/ f7 f0 1"/>
                <a:gd name="f15" fmla="*/ f8 f0 1"/>
                <a:gd name="f16" fmla="*/ f9 f0 1"/>
                <a:gd name="f17" fmla="?: f10 f3 1"/>
                <a:gd name="f18" fmla="?: f11 f4 1"/>
                <a:gd name="f19" fmla="?: f12 f5 1"/>
                <a:gd name="f20" fmla="*/ f14 1 f2"/>
                <a:gd name="f21" fmla="*/ f15 1 f2"/>
                <a:gd name="f22" fmla="*/ f16 1 f2"/>
                <a:gd name="f23" fmla="*/ f17 1 21600"/>
                <a:gd name="f24" fmla="*/ f18 1 21600"/>
                <a:gd name="f25" fmla="*/ 21600 f17 1"/>
                <a:gd name="f26" fmla="*/ 21600 f18 1"/>
                <a:gd name="f27" fmla="+- f20 0 f1"/>
                <a:gd name="f28" fmla="+- f21 0 f1"/>
                <a:gd name="f29" fmla="+- f22 0 f1"/>
                <a:gd name="f30" fmla="min f24 f23"/>
                <a:gd name="f31" fmla="*/ f25 1 f19"/>
                <a:gd name="f32" fmla="*/ f26 1 f19"/>
                <a:gd name="f33" fmla="val f31"/>
                <a:gd name="f34" fmla="val f32"/>
                <a:gd name="f35" fmla="*/ f13 f30 1"/>
                <a:gd name="f36" fmla="+- f34 0 f13"/>
                <a:gd name="f37" fmla="+- f33 0 f13"/>
                <a:gd name="f38" fmla="*/ f34 f30 1"/>
                <a:gd name="f39" fmla="*/ f33 f30 1"/>
                <a:gd name="f40" fmla="*/ f36 1 2"/>
                <a:gd name="f41" fmla="*/ f37 1 2"/>
                <a:gd name="f42" fmla="*/ f37 1 12"/>
                <a:gd name="f43" fmla="*/ f36 7 1"/>
                <a:gd name="f44" fmla="*/ f37 7 1"/>
                <a:gd name="f45" fmla="*/ f36 11 1"/>
                <a:gd name="f46" fmla="+- f13 f40 0"/>
                <a:gd name="f47" fmla="+- f13 f41 0"/>
                <a:gd name="f48" fmla="*/ f43 1 12"/>
                <a:gd name="f49" fmla="*/ f44 1 12"/>
                <a:gd name="f50" fmla="*/ f45 1 12"/>
                <a:gd name="f51" fmla="*/ f42 f30 1"/>
                <a:gd name="f52" fmla="*/ f48 f30 1"/>
                <a:gd name="f53" fmla="*/ f49 f30 1"/>
                <a:gd name="f54" fmla="*/ f50 f30 1"/>
                <a:gd name="f55" fmla="*/ f47 f30 1"/>
                <a:gd name="f56" fmla="*/ f46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7">
                  <a:pos x="f35" y="f35"/>
                </a:cxn>
                <a:cxn ang="f28">
                  <a:pos x="f35" y="f38"/>
                </a:cxn>
                <a:cxn ang="f28">
                  <a:pos x="f39" y="f38"/>
                </a:cxn>
                <a:cxn ang="f29">
                  <a:pos x="f55" y="f56"/>
                </a:cxn>
              </a:cxnLst>
              <a:rect l="f51" t="f52" r="f53" b="f54"/>
              <a:pathLst>
                <a:path>
                  <a:moveTo>
                    <a:pt x="f35" y="f38"/>
                  </a:moveTo>
                  <a:lnTo>
                    <a:pt x="f35" y="f35"/>
                  </a:lnTo>
                  <a:lnTo>
                    <a:pt x="f39" y="f38"/>
                  </a:lnTo>
                  <a:close/>
                </a:path>
              </a:pathLst>
            </a:custGeom>
            <a:solidFill>
              <a:srgbClr val="366B9D"/>
            </a:solidFill>
            <a:ln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14" name="Right Triangle 6">
              <a:extLst>
                <a:ext uri="{FF2B5EF4-FFF2-40B4-BE49-F238E27FC236}">
                  <a16:creationId xmlns:a16="http://schemas.microsoft.com/office/drawing/2014/main" id="{033B1B83-FB7C-4D5E-58AD-B3FD9C765298}"/>
                </a:ext>
              </a:extLst>
            </p:cNvPr>
            <p:cNvSpPr/>
            <p:nvPr/>
          </p:nvSpPr>
          <p:spPr>
            <a:xfrm flipH="1">
              <a:off x="11046866" y="-3447"/>
              <a:ext cx="572569" cy="57256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360"/>
                <a:gd name="f8" fmla="+- 0 0 -180"/>
                <a:gd name="f9" fmla="+- 0 0 -90"/>
                <a:gd name="f10" fmla="abs f3"/>
                <a:gd name="f11" fmla="abs f4"/>
                <a:gd name="f12" fmla="abs f5"/>
                <a:gd name="f13" fmla="val f6"/>
                <a:gd name="f14" fmla="*/ f7 f0 1"/>
                <a:gd name="f15" fmla="*/ f8 f0 1"/>
                <a:gd name="f16" fmla="*/ f9 f0 1"/>
                <a:gd name="f17" fmla="?: f10 f3 1"/>
                <a:gd name="f18" fmla="?: f11 f4 1"/>
                <a:gd name="f19" fmla="?: f12 f5 1"/>
                <a:gd name="f20" fmla="*/ f14 1 f2"/>
                <a:gd name="f21" fmla="*/ f15 1 f2"/>
                <a:gd name="f22" fmla="*/ f16 1 f2"/>
                <a:gd name="f23" fmla="*/ f17 1 21600"/>
                <a:gd name="f24" fmla="*/ f18 1 21600"/>
                <a:gd name="f25" fmla="*/ 21600 f17 1"/>
                <a:gd name="f26" fmla="*/ 21600 f18 1"/>
                <a:gd name="f27" fmla="+- f20 0 f1"/>
                <a:gd name="f28" fmla="+- f21 0 f1"/>
                <a:gd name="f29" fmla="+- f22 0 f1"/>
                <a:gd name="f30" fmla="min f24 f23"/>
                <a:gd name="f31" fmla="*/ f25 1 f19"/>
                <a:gd name="f32" fmla="*/ f26 1 f19"/>
                <a:gd name="f33" fmla="val f31"/>
                <a:gd name="f34" fmla="val f32"/>
                <a:gd name="f35" fmla="*/ f13 f30 1"/>
                <a:gd name="f36" fmla="+- f34 0 f13"/>
                <a:gd name="f37" fmla="+- f33 0 f13"/>
                <a:gd name="f38" fmla="*/ f34 f30 1"/>
                <a:gd name="f39" fmla="*/ f33 f30 1"/>
                <a:gd name="f40" fmla="*/ f36 1 2"/>
                <a:gd name="f41" fmla="*/ f37 1 2"/>
                <a:gd name="f42" fmla="*/ f37 1 12"/>
                <a:gd name="f43" fmla="*/ f36 7 1"/>
                <a:gd name="f44" fmla="*/ f37 7 1"/>
                <a:gd name="f45" fmla="*/ f36 11 1"/>
                <a:gd name="f46" fmla="+- f13 f40 0"/>
                <a:gd name="f47" fmla="+- f13 f41 0"/>
                <a:gd name="f48" fmla="*/ f43 1 12"/>
                <a:gd name="f49" fmla="*/ f44 1 12"/>
                <a:gd name="f50" fmla="*/ f45 1 12"/>
                <a:gd name="f51" fmla="*/ f42 f30 1"/>
                <a:gd name="f52" fmla="*/ f48 f30 1"/>
                <a:gd name="f53" fmla="*/ f49 f30 1"/>
                <a:gd name="f54" fmla="*/ f50 f30 1"/>
                <a:gd name="f55" fmla="*/ f47 f30 1"/>
                <a:gd name="f56" fmla="*/ f46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7">
                  <a:pos x="f35" y="f35"/>
                </a:cxn>
                <a:cxn ang="f28">
                  <a:pos x="f35" y="f38"/>
                </a:cxn>
                <a:cxn ang="f28">
                  <a:pos x="f39" y="f38"/>
                </a:cxn>
                <a:cxn ang="f29">
                  <a:pos x="f55" y="f56"/>
                </a:cxn>
              </a:cxnLst>
              <a:rect l="f51" t="f52" r="f53" b="f54"/>
              <a:pathLst>
                <a:path>
                  <a:moveTo>
                    <a:pt x="f35" y="f38"/>
                  </a:moveTo>
                  <a:lnTo>
                    <a:pt x="f35" y="f35"/>
                  </a:lnTo>
                  <a:lnTo>
                    <a:pt x="f39" y="f38"/>
                  </a:lnTo>
                  <a:close/>
                </a:path>
              </a:pathLst>
            </a:custGeom>
            <a:solidFill>
              <a:srgbClr val="E77817"/>
            </a:solidFill>
            <a:ln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15" name="Right Triangle 7">
              <a:extLst>
                <a:ext uri="{FF2B5EF4-FFF2-40B4-BE49-F238E27FC236}">
                  <a16:creationId xmlns:a16="http://schemas.microsoft.com/office/drawing/2014/main" id="{93FDE99A-47DD-4147-C32C-6F4F157F7B97}"/>
                </a:ext>
              </a:extLst>
            </p:cNvPr>
            <p:cNvSpPr/>
            <p:nvPr/>
          </p:nvSpPr>
          <p:spPr>
            <a:xfrm flipH="1" flipV="1">
              <a:off x="11619436" y="569122"/>
              <a:ext cx="572569" cy="57256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360"/>
                <a:gd name="f8" fmla="+- 0 0 -180"/>
                <a:gd name="f9" fmla="+- 0 0 -90"/>
                <a:gd name="f10" fmla="abs f3"/>
                <a:gd name="f11" fmla="abs f4"/>
                <a:gd name="f12" fmla="abs f5"/>
                <a:gd name="f13" fmla="val f6"/>
                <a:gd name="f14" fmla="*/ f7 f0 1"/>
                <a:gd name="f15" fmla="*/ f8 f0 1"/>
                <a:gd name="f16" fmla="*/ f9 f0 1"/>
                <a:gd name="f17" fmla="?: f10 f3 1"/>
                <a:gd name="f18" fmla="?: f11 f4 1"/>
                <a:gd name="f19" fmla="?: f12 f5 1"/>
                <a:gd name="f20" fmla="*/ f14 1 f2"/>
                <a:gd name="f21" fmla="*/ f15 1 f2"/>
                <a:gd name="f22" fmla="*/ f16 1 f2"/>
                <a:gd name="f23" fmla="*/ f17 1 21600"/>
                <a:gd name="f24" fmla="*/ f18 1 21600"/>
                <a:gd name="f25" fmla="*/ 21600 f17 1"/>
                <a:gd name="f26" fmla="*/ 21600 f18 1"/>
                <a:gd name="f27" fmla="+- f20 0 f1"/>
                <a:gd name="f28" fmla="+- f21 0 f1"/>
                <a:gd name="f29" fmla="+- f22 0 f1"/>
                <a:gd name="f30" fmla="min f24 f23"/>
                <a:gd name="f31" fmla="*/ f25 1 f19"/>
                <a:gd name="f32" fmla="*/ f26 1 f19"/>
                <a:gd name="f33" fmla="val f31"/>
                <a:gd name="f34" fmla="val f32"/>
                <a:gd name="f35" fmla="*/ f13 f30 1"/>
                <a:gd name="f36" fmla="+- f34 0 f13"/>
                <a:gd name="f37" fmla="+- f33 0 f13"/>
                <a:gd name="f38" fmla="*/ f34 f30 1"/>
                <a:gd name="f39" fmla="*/ f33 f30 1"/>
                <a:gd name="f40" fmla="*/ f36 1 2"/>
                <a:gd name="f41" fmla="*/ f37 1 2"/>
                <a:gd name="f42" fmla="*/ f37 1 12"/>
                <a:gd name="f43" fmla="*/ f36 7 1"/>
                <a:gd name="f44" fmla="*/ f37 7 1"/>
                <a:gd name="f45" fmla="*/ f36 11 1"/>
                <a:gd name="f46" fmla="+- f13 f40 0"/>
                <a:gd name="f47" fmla="+- f13 f41 0"/>
                <a:gd name="f48" fmla="*/ f43 1 12"/>
                <a:gd name="f49" fmla="*/ f44 1 12"/>
                <a:gd name="f50" fmla="*/ f45 1 12"/>
                <a:gd name="f51" fmla="*/ f42 f30 1"/>
                <a:gd name="f52" fmla="*/ f48 f30 1"/>
                <a:gd name="f53" fmla="*/ f49 f30 1"/>
                <a:gd name="f54" fmla="*/ f50 f30 1"/>
                <a:gd name="f55" fmla="*/ f47 f30 1"/>
                <a:gd name="f56" fmla="*/ f46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7">
                  <a:pos x="f35" y="f35"/>
                </a:cxn>
                <a:cxn ang="f28">
                  <a:pos x="f35" y="f38"/>
                </a:cxn>
                <a:cxn ang="f28">
                  <a:pos x="f39" y="f38"/>
                </a:cxn>
                <a:cxn ang="f29">
                  <a:pos x="f55" y="f56"/>
                </a:cxn>
              </a:cxnLst>
              <a:rect l="f51" t="f52" r="f53" b="f54"/>
              <a:pathLst>
                <a:path>
                  <a:moveTo>
                    <a:pt x="f35" y="f38"/>
                  </a:moveTo>
                  <a:lnTo>
                    <a:pt x="f35" y="f35"/>
                  </a:lnTo>
                  <a:lnTo>
                    <a:pt x="f39" y="f38"/>
                  </a:lnTo>
                  <a:close/>
                </a:path>
              </a:pathLst>
            </a:custGeom>
            <a:solidFill>
              <a:srgbClr val="E77817"/>
            </a:solidFill>
            <a:ln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4C91282C-9E15-4CFF-C020-966B496D83C9}"/>
                </a:ext>
              </a:extLst>
            </p:cNvPr>
            <p:cNvSpPr/>
            <p:nvPr/>
          </p:nvSpPr>
          <p:spPr>
            <a:xfrm>
              <a:off x="11619436" y="0"/>
              <a:ext cx="572569" cy="572569"/>
            </a:xfrm>
            <a:prstGeom prst="rect">
              <a:avLst/>
            </a:prstGeom>
            <a:solidFill>
              <a:srgbClr val="366B9D"/>
            </a:solidFill>
            <a:ln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</p:grpSp>
      <p:sp>
        <p:nvSpPr>
          <p:cNvPr id="17" name="Freeform: Shape 9">
            <a:extLst>
              <a:ext uri="{FF2B5EF4-FFF2-40B4-BE49-F238E27FC236}">
                <a16:creationId xmlns:a16="http://schemas.microsoft.com/office/drawing/2014/main" id="{77A8557C-2357-447C-1BE3-0E6C988FDCBF}"/>
              </a:ext>
            </a:extLst>
          </p:cNvPr>
          <p:cNvSpPr/>
          <p:nvPr/>
        </p:nvSpPr>
        <p:spPr>
          <a:xfrm>
            <a:off x="610864" y="1508760"/>
            <a:ext cx="621033" cy="54575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754380"/>
              <a:gd name="f7" fmla="val 662940"/>
              <a:gd name="f8" fmla="+- 0 0 -90"/>
              <a:gd name="f9" fmla="*/ f3 1 754380"/>
              <a:gd name="f10" fmla="*/ f4 1 662940"/>
              <a:gd name="f11" fmla="val f5"/>
              <a:gd name="f12" fmla="val f6"/>
              <a:gd name="f13" fmla="val f7"/>
              <a:gd name="f14" fmla="*/ f8 f0 1"/>
              <a:gd name="f15" fmla="+- f13 0 f11"/>
              <a:gd name="f16" fmla="+- f12 0 f11"/>
              <a:gd name="f17" fmla="*/ f14 1 f2"/>
              <a:gd name="f18" fmla="*/ f16 1 754380"/>
              <a:gd name="f19" fmla="*/ f15 1 662940"/>
              <a:gd name="f20" fmla="*/ 754380 f16 1"/>
              <a:gd name="f21" fmla="*/ 0 f15 1"/>
              <a:gd name="f22" fmla="*/ 0 f16 1"/>
              <a:gd name="f23" fmla="*/ 662940 f15 1"/>
              <a:gd name="f24" fmla="+- f17 0 f1"/>
              <a:gd name="f25" fmla="*/ f20 1 754380"/>
              <a:gd name="f26" fmla="*/ f21 1 662940"/>
              <a:gd name="f27" fmla="*/ f22 1 754380"/>
              <a:gd name="f28" fmla="*/ f23 1 662940"/>
              <a:gd name="f29" fmla="*/ f11 1 f18"/>
              <a:gd name="f30" fmla="*/ f12 1 f18"/>
              <a:gd name="f31" fmla="*/ f11 1 f19"/>
              <a:gd name="f32" fmla="*/ f13 1 f19"/>
              <a:gd name="f33" fmla="*/ f25 1 f18"/>
              <a:gd name="f34" fmla="*/ f26 1 f19"/>
              <a:gd name="f35" fmla="*/ f27 1 f18"/>
              <a:gd name="f36" fmla="*/ f28 1 f19"/>
              <a:gd name="f37" fmla="*/ f29 f9 1"/>
              <a:gd name="f38" fmla="*/ f30 f9 1"/>
              <a:gd name="f39" fmla="*/ f32 f10 1"/>
              <a:gd name="f40" fmla="*/ f31 f10 1"/>
              <a:gd name="f41" fmla="*/ f33 f9 1"/>
              <a:gd name="f42" fmla="*/ f34 f10 1"/>
              <a:gd name="f43" fmla="*/ f35 f9 1"/>
              <a:gd name="f44" fmla="*/ f36 f1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41" y="f42"/>
              </a:cxn>
              <a:cxn ang="f24">
                <a:pos x="f43" y="f42"/>
              </a:cxn>
              <a:cxn ang="f24">
                <a:pos x="f43" y="f44"/>
              </a:cxn>
            </a:cxnLst>
            <a:rect l="f37" t="f40" r="f38" b="f39"/>
            <a:pathLst>
              <a:path w="754380" h="662940">
                <a:moveTo>
                  <a:pt x="f6" y="f5"/>
                </a:moveTo>
                <a:lnTo>
                  <a:pt x="f5" y="f5"/>
                </a:lnTo>
                <a:lnTo>
                  <a:pt x="f5" y="f7"/>
                </a:lnTo>
              </a:path>
            </a:pathLst>
          </a:custGeom>
          <a:noFill/>
          <a:ln w="28575" cap="flat">
            <a:solidFill>
              <a:srgbClr val="366B9D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18" name="Freeform: Shape 14">
            <a:extLst>
              <a:ext uri="{FF2B5EF4-FFF2-40B4-BE49-F238E27FC236}">
                <a16:creationId xmlns:a16="http://schemas.microsoft.com/office/drawing/2014/main" id="{8145CDBC-AD59-CDB2-B26F-FB7AC93B0450}"/>
              </a:ext>
            </a:extLst>
          </p:cNvPr>
          <p:cNvSpPr/>
          <p:nvPr/>
        </p:nvSpPr>
        <p:spPr>
          <a:xfrm flipH="1" flipV="1">
            <a:off x="10998403" y="4453978"/>
            <a:ext cx="621033" cy="54575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754380"/>
              <a:gd name="f7" fmla="val 662940"/>
              <a:gd name="f8" fmla="+- 0 0 -90"/>
              <a:gd name="f9" fmla="*/ f3 1 754380"/>
              <a:gd name="f10" fmla="*/ f4 1 662940"/>
              <a:gd name="f11" fmla="val f5"/>
              <a:gd name="f12" fmla="val f6"/>
              <a:gd name="f13" fmla="val f7"/>
              <a:gd name="f14" fmla="*/ f8 f0 1"/>
              <a:gd name="f15" fmla="+- f13 0 f11"/>
              <a:gd name="f16" fmla="+- f12 0 f11"/>
              <a:gd name="f17" fmla="*/ f14 1 f2"/>
              <a:gd name="f18" fmla="*/ f16 1 754380"/>
              <a:gd name="f19" fmla="*/ f15 1 662940"/>
              <a:gd name="f20" fmla="*/ 754380 f16 1"/>
              <a:gd name="f21" fmla="*/ 0 f15 1"/>
              <a:gd name="f22" fmla="*/ 0 f16 1"/>
              <a:gd name="f23" fmla="*/ 662940 f15 1"/>
              <a:gd name="f24" fmla="+- f17 0 f1"/>
              <a:gd name="f25" fmla="*/ f20 1 754380"/>
              <a:gd name="f26" fmla="*/ f21 1 662940"/>
              <a:gd name="f27" fmla="*/ f22 1 754380"/>
              <a:gd name="f28" fmla="*/ f23 1 662940"/>
              <a:gd name="f29" fmla="*/ f11 1 f18"/>
              <a:gd name="f30" fmla="*/ f12 1 f18"/>
              <a:gd name="f31" fmla="*/ f11 1 f19"/>
              <a:gd name="f32" fmla="*/ f13 1 f19"/>
              <a:gd name="f33" fmla="*/ f25 1 f18"/>
              <a:gd name="f34" fmla="*/ f26 1 f19"/>
              <a:gd name="f35" fmla="*/ f27 1 f18"/>
              <a:gd name="f36" fmla="*/ f28 1 f19"/>
              <a:gd name="f37" fmla="*/ f29 f9 1"/>
              <a:gd name="f38" fmla="*/ f30 f9 1"/>
              <a:gd name="f39" fmla="*/ f32 f10 1"/>
              <a:gd name="f40" fmla="*/ f31 f10 1"/>
              <a:gd name="f41" fmla="*/ f33 f9 1"/>
              <a:gd name="f42" fmla="*/ f34 f10 1"/>
              <a:gd name="f43" fmla="*/ f35 f9 1"/>
              <a:gd name="f44" fmla="*/ f36 f1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41" y="f42"/>
              </a:cxn>
              <a:cxn ang="f24">
                <a:pos x="f43" y="f42"/>
              </a:cxn>
              <a:cxn ang="f24">
                <a:pos x="f43" y="f44"/>
              </a:cxn>
            </a:cxnLst>
            <a:rect l="f37" t="f40" r="f38" b="f39"/>
            <a:pathLst>
              <a:path w="754380" h="662940">
                <a:moveTo>
                  <a:pt x="f6" y="f5"/>
                </a:moveTo>
                <a:lnTo>
                  <a:pt x="f5" y="f5"/>
                </a:lnTo>
                <a:lnTo>
                  <a:pt x="f5" y="f7"/>
                </a:lnTo>
              </a:path>
            </a:pathLst>
          </a:custGeom>
          <a:noFill/>
          <a:ln w="28575" cap="flat">
            <a:solidFill>
              <a:srgbClr val="366B9D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4742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>
            <a:extLst>
              <a:ext uri="{FF2B5EF4-FFF2-40B4-BE49-F238E27FC236}">
                <a16:creationId xmlns:a16="http://schemas.microsoft.com/office/drawing/2014/main" id="{F48E1EE7-E20C-2A6C-1BE7-1D0780B2BBF8}"/>
              </a:ext>
            </a:extLst>
          </p:cNvPr>
          <p:cNvSpPr/>
          <p:nvPr/>
        </p:nvSpPr>
        <p:spPr>
          <a:xfrm>
            <a:off x="0" y="5939366"/>
            <a:ext cx="12191996" cy="918633"/>
          </a:xfrm>
          <a:prstGeom prst="rect">
            <a:avLst/>
          </a:prstGeom>
          <a:solidFill>
            <a:srgbClr val="EEEEF0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600" b="0" i="0" u="none" strike="noStrike" kern="1200" cap="none" spc="0" baseline="0">
              <a:solidFill>
                <a:srgbClr val="FFFFFF"/>
              </a:solidFill>
              <a:uFillTx/>
              <a:latin typeface="Poppins" pitchFamily="2"/>
              <a:cs typeface="Poppins" pitchFamily="2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5E7730C-423A-6B81-4934-831BF4311C5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2480465"/>
            <a:ext cx="9144000" cy="652460"/>
          </a:xfrm>
        </p:spPr>
        <p:txBody>
          <a:bodyPr anchorCtr="1"/>
          <a:lstStyle>
            <a:lvl1pPr algn="ctr">
              <a:defRPr sz="2800">
                <a:solidFill>
                  <a:srgbClr val="366B9D"/>
                </a:solidFill>
                <a:ea typeface="Lato" pitchFamily="34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9646DD0-6F30-47FC-BF35-63A179DA2F6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163046"/>
            <a:ext cx="9144000" cy="634995"/>
          </a:xfrm>
        </p:spPr>
        <p:txBody>
          <a:bodyPr anchor="ctr" anchorCtr="1"/>
          <a:lstStyle>
            <a:lvl1pPr marL="0" indent="0" algn="ctr">
              <a:buNone/>
              <a:defRPr>
                <a:solidFill>
                  <a:srgbClr val="E77817"/>
                </a:solidFill>
                <a:ea typeface="Lato" pitchFamily="34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  <p:cxnSp>
        <p:nvCxnSpPr>
          <p:cNvPr id="5" name="Straight Connector 14">
            <a:extLst>
              <a:ext uri="{FF2B5EF4-FFF2-40B4-BE49-F238E27FC236}">
                <a16:creationId xmlns:a16="http://schemas.microsoft.com/office/drawing/2014/main" id="{3DC4371C-EAA5-4147-4C42-0CFD94521816}"/>
              </a:ext>
            </a:extLst>
          </p:cNvPr>
          <p:cNvCxnSpPr/>
          <p:nvPr/>
        </p:nvCxnSpPr>
        <p:spPr>
          <a:xfrm>
            <a:off x="-12701" y="5939366"/>
            <a:ext cx="12204697" cy="0"/>
          </a:xfrm>
          <a:prstGeom prst="straightConnector1">
            <a:avLst/>
          </a:prstGeom>
          <a:noFill/>
          <a:ln w="6345" cap="flat">
            <a:solidFill>
              <a:srgbClr val="A6A6A6"/>
            </a:solidFill>
            <a:prstDash val="solid"/>
            <a:miter/>
          </a:ln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DA34C-8FBD-58D2-415A-9F8E543E809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5861047" y="6211894"/>
            <a:ext cx="469901" cy="365129"/>
          </a:xfrm>
        </p:spPr>
        <p:txBody>
          <a:bodyPr/>
          <a:lstStyle>
            <a:lvl1pPr>
              <a:defRPr sz="1050">
                <a:ea typeface="Lato" pitchFamily="34"/>
              </a:defRPr>
            </a:lvl1pPr>
          </a:lstStyle>
          <a:p>
            <a:pPr lvl="0"/>
            <a:fld id="{A63168CA-45D9-40D6-B744-0825813413BB}" type="slidenum">
              <a:t>‹#›</a:t>
            </a:fld>
            <a:endParaRPr lang="en-IN"/>
          </a:p>
        </p:txBody>
      </p:sp>
      <p:sp>
        <p:nvSpPr>
          <p:cNvPr id="7" name="TextBox 17">
            <a:extLst>
              <a:ext uri="{FF2B5EF4-FFF2-40B4-BE49-F238E27FC236}">
                <a16:creationId xmlns:a16="http://schemas.microsoft.com/office/drawing/2014/main" id="{3E5FD69A-084F-8544-40AB-8C52C7F55B63}"/>
              </a:ext>
            </a:extLst>
          </p:cNvPr>
          <p:cNvSpPr txBox="1"/>
          <p:nvPr/>
        </p:nvSpPr>
        <p:spPr>
          <a:xfrm>
            <a:off x="7889104" y="6193304"/>
            <a:ext cx="3921267" cy="261609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100" b="0" i="0" u="none" strike="noStrike" kern="1200" cap="none" spc="0" baseline="0">
                <a:solidFill>
                  <a:srgbClr val="595959"/>
                </a:solidFill>
                <a:uFillTx/>
                <a:latin typeface="Poppins" pitchFamily="2"/>
                <a:ea typeface="Lato" pitchFamily="34"/>
                <a:cs typeface="Poppins" pitchFamily="2"/>
              </a:rPr>
              <a:t>© Copyright : Centre for Computational Technologies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861FA836-C4AB-7A53-4427-24B5EA084B37}"/>
              </a:ext>
            </a:extLst>
          </p:cNvPr>
          <p:cNvSpPr/>
          <p:nvPr/>
        </p:nvSpPr>
        <p:spPr>
          <a:xfrm>
            <a:off x="10425961" y="6385511"/>
            <a:ext cx="1401345" cy="26160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100" b="0" i="0" u="none" strike="noStrike" kern="1200" cap="none" spc="0" baseline="0">
                <a:solidFill>
                  <a:srgbClr val="166FA9"/>
                </a:solidFill>
                <a:uFillTx/>
                <a:latin typeface="Poppins" pitchFamily="2"/>
                <a:ea typeface="Lato" pitchFamily="34"/>
                <a:cs typeface="Poppins" pitchFamily="2"/>
              </a:rPr>
              <a:t>www.cctech.co.in</a:t>
            </a:r>
          </a:p>
        </p:txBody>
      </p:sp>
      <p:sp>
        <p:nvSpPr>
          <p:cNvPr id="9" name="Rectangle 19">
            <a:hlinkClick r:id="rId2"/>
            <a:extLst>
              <a:ext uri="{FF2B5EF4-FFF2-40B4-BE49-F238E27FC236}">
                <a16:creationId xmlns:a16="http://schemas.microsoft.com/office/drawing/2014/main" id="{A477B9FA-1EDA-76B9-E06E-FE0C8D8F2B88}"/>
              </a:ext>
            </a:extLst>
          </p:cNvPr>
          <p:cNvSpPr/>
          <p:nvPr/>
        </p:nvSpPr>
        <p:spPr>
          <a:xfrm>
            <a:off x="10512527" y="6445797"/>
            <a:ext cx="1235637" cy="17786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400" b="0" i="0" u="none" strike="noStrike" kern="1200" cap="none" spc="0" baseline="0">
              <a:solidFill>
                <a:srgbClr val="FFFFFF"/>
              </a:solidFill>
              <a:uFillTx/>
              <a:latin typeface="Poppins" pitchFamily="2"/>
              <a:cs typeface="Poppins" pitchFamily="2"/>
            </a:endParaRPr>
          </a:p>
        </p:txBody>
      </p:sp>
      <p:pic>
        <p:nvPicPr>
          <p:cNvPr id="10" name="Picture 20">
            <a:hlinkClick r:id="rId2"/>
            <a:extLst>
              <a:ext uri="{FF2B5EF4-FFF2-40B4-BE49-F238E27FC236}">
                <a16:creationId xmlns:a16="http://schemas.microsoft.com/office/drawing/2014/main" id="{DBE5CECD-C840-C3B6-6C94-40240232C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59" y="6146733"/>
            <a:ext cx="568802" cy="5045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Freeform: Shape 3">
            <a:extLst>
              <a:ext uri="{FF2B5EF4-FFF2-40B4-BE49-F238E27FC236}">
                <a16:creationId xmlns:a16="http://schemas.microsoft.com/office/drawing/2014/main" id="{A319F799-164B-0729-35C0-4CED046AF1A2}"/>
              </a:ext>
            </a:extLst>
          </p:cNvPr>
          <p:cNvSpPr/>
          <p:nvPr/>
        </p:nvSpPr>
        <p:spPr>
          <a:xfrm>
            <a:off x="610864" y="1508760"/>
            <a:ext cx="621033" cy="54575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754380"/>
              <a:gd name="f7" fmla="val 662940"/>
              <a:gd name="f8" fmla="+- 0 0 -90"/>
              <a:gd name="f9" fmla="*/ f3 1 754380"/>
              <a:gd name="f10" fmla="*/ f4 1 662940"/>
              <a:gd name="f11" fmla="val f5"/>
              <a:gd name="f12" fmla="val f6"/>
              <a:gd name="f13" fmla="val f7"/>
              <a:gd name="f14" fmla="*/ f8 f0 1"/>
              <a:gd name="f15" fmla="+- f13 0 f11"/>
              <a:gd name="f16" fmla="+- f12 0 f11"/>
              <a:gd name="f17" fmla="*/ f14 1 f2"/>
              <a:gd name="f18" fmla="*/ f16 1 754380"/>
              <a:gd name="f19" fmla="*/ f15 1 662940"/>
              <a:gd name="f20" fmla="*/ 754380 f16 1"/>
              <a:gd name="f21" fmla="*/ 0 f15 1"/>
              <a:gd name="f22" fmla="*/ 0 f16 1"/>
              <a:gd name="f23" fmla="*/ 662940 f15 1"/>
              <a:gd name="f24" fmla="+- f17 0 f1"/>
              <a:gd name="f25" fmla="*/ f20 1 754380"/>
              <a:gd name="f26" fmla="*/ f21 1 662940"/>
              <a:gd name="f27" fmla="*/ f22 1 754380"/>
              <a:gd name="f28" fmla="*/ f23 1 662940"/>
              <a:gd name="f29" fmla="*/ f11 1 f18"/>
              <a:gd name="f30" fmla="*/ f12 1 f18"/>
              <a:gd name="f31" fmla="*/ f11 1 f19"/>
              <a:gd name="f32" fmla="*/ f13 1 f19"/>
              <a:gd name="f33" fmla="*/ f25 1 f18"/>
              <a:gd name="f34" fmla="*/ f26 1 f19"/>
              <a:gd name="f35" fmla="*/ f27 1 f18"/>
              <a:gd name="f36" fmla="*/ f28 1 f19"/>
              <a:gd name="f37" fmla="*/ f29 f9 1"/>
              <a:gd name="f38" fmla="*/ f30 f9 1"/>
              <a:gd name="f39" fmla="*/ f32 f10 1"/>
              <a:gd name="f40" fmla="*/ f31 f10 1"/>
              <a:gd name="f41" fmla="*/ f33 f9 1"/>
              <a:gd name="f42" fmla="*/ f34 f10 1"/>
              <a:gd name="f43" fmla="*/ f35 f9 1"/>
              <a:gd name="f44" fmla="*/ f36 f1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41" y="f42"/>
              </a:cxn>
              <a:cxn ang="f24">
                <a:pos x="f43" y="f42"/>
              </a:cxn>
              <a:cxn ang="f24">
                <a:pos x="f43" y="f44"/>
              </a:cxn>
            </a:cxnLst>
            <a:rect l="f37" t="f40" r="f38" b="f39"/>
            <a:pathLst>
              <a:path w="754380" h="662940">
                <a:moveTo>
                  <a:pt x="f6" y="f5"/>
                </a:moveTo>
                <a:lnTo>
                  <a:pt x="f5" y="f5"/>
                </a:lnTo>
                <a:lnTo>
                  <a:pt x="f5" y="f7"/>
                </a:lnTo>
              </a:path>
            </a:pathLst>
          </a:custGeom>
          <a:noFill/>
          <a:ln w="28575" cap="flat">
            <a:solidFill>
              <a:srgbClr val="366B9D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12" name="Freeform: Shape 4">
            <a:extLst>
              <a:ext uri="{FF2B5EF4-FFF2-40B4-BE49-F238E27FC236}">
                <a16:creationId xmlns:a16="http://schemas.microsoft.com/office/drawing/2014/main" id="{7073B6BD-9AA9-AF66-C2E5-4BCA29129741}"/>
              </a:ext>
            </a:extLst>
          </p:cNvPr>
          <p:cNvSpPr/>
          <p:nvPr/>
        </p:nvSpPr>
        <p:spPr>
          <a:xfrm flipH="1" flipV="1">
            <a:off x="10998403" y="4453978"/>
            <a:ext cx="621033" cy="54575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754380"/>
              <a:gd name="f7" fmla="val 662940"/>
              <a:gd name="f8" fmla="+- 0 0 -90"/>
              <a:gd name="f9" fmla="*/ f3 1 754380"/>
              <a:gd name="f10" fmla="*/ f4 1 662940"/>
              <a:gd name="f11" fmla="val f5"/>
              <a:gd name="f12" fmla="val f6"/>
              <a:gd name="f13" fmla="val f7"/>
              <a:gd name="f14" fmla="*/ f8 f0 1"/>
              <a:gd name="f15" fmla="+- f13 0 f11"/>
              <a:gd name="f16" fmla="+- f12 0 f11"/>
              <a:gd name="f17" fmla="*/ f14 1 f2"/>
              <a:gd name="f18" fmla="*/ f16 1 754380"/>
              <a:gd name="f19" fmla="*/ f15 1 662940"/>
              <a:gd name="f20" fmla="*/ 754380 f16 1"/>
              <a:gd name="f21" fmla="*/ 0 f15 1"/>
              <a:gd name="f22" fmla="*/ 0 f16 1"/>
              <a:gd name="f23" fmla="*/ 662940 f15 1"/>
              <a:gd name="f24" fmla="+- f17 0 f1"/>
              <a:gd name="f25" fmla="*/ f20 1 754380"/>
              <a:gd name="f26" fmla="*/ f21 1 662940"/>
              <a:gd name="f27" fmla="*/ f22 1 754380"/>
              <a:gd name="f28" fmla="*/ f23 1 662940"/>
              <a:gd name="f29" fmla="*/ f11 1 f18"/>
              <a:gd name="f30" fmla="*/ f12 1 f18"/>
              <a:gd name="f31" fmla="*/ f11 1 f19"/>
              <a:gd name="f32" fmla="*/ f13 1 f19"/>
              <a:gd name="f33" fmla="*/ f25 1 f18"/>
              <a:gd name="f34" fmla="*/ f26 1 f19"/>
              <a:gd name="f35" fmla="*/ f27 1 f18"/>
              <a:gd name="f36" fmla="*/ f28 1 f19"/>
              <a:gd name="f37" fmla="*/ f29 f9 1"/>
              <a:gd name="f38" fmla="*/ f30 f9 1"/>
              <a:gd name="f39" fmla="*/ f32 f10 1"/>
              <a:gd name="f40" fmla="*/ f31 f10 1"/>
              <a:gd name="f41" fmla="*/ f33 f9 1"/>
              <a:gd name="f42" fmla="*/ f34 f10 1"/>
              <a:gd name="f43" fmla="*/ f35 f9 1"/>
              <a:gd name="f44" fmla="*/ f36 f1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41" y="f42"/>
              </a:cxn>
              <a:cxn ang="f24">
                <a:pos x="f43" y="f42"/>
              </a:cxn>
              <a:cxn ang="f24">
                <a:pos x="f43" y="f44"/>
              </a:cxn>
            </a:cxnLst>
            <a:rect l="f37" t="f40" r="f38" b="f39"/>
            <a:pathLst>
              <a:path w="754380" h="662940">
                <a:moveTo>
                  <a:pt x="f6" y="f5"/>
                </a:moveTo>
                <a:lnTo>
                  <a:pt x="f5" y="f5"/>
                </a:lnTo>
                <a:lnTo>
                  <a:pt x="f5" y="f7"/>
                </a:lnTo>
              </a:path>
            </a:pathLst>
          </a:custGeom>
          <a:noFill/>
          <a:ln w="28575" cap="flat">
            <a:solidFill>
              <a:srgbClr val="366B9D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id="{54A68C94-71B3-7BB9-E775-3389F830343A}"/>
              </a:ext>
            </a:extLst>
          </p:cNvPr>
          <p:cNvGrpSpPr/>
          <p:nvPr/>
        </p:nvGrpSpPr>
        <p:grpSpPr>
          <a:xfrm>
            <a:off x="10473025" y="-3447"/>
            <a:ext cx="1718980" cy="1145138"/>
            <a:chOff x="10473025" y="-3447"/>
            <a:chExt cx="1718980" cy="1145138"/>
          </a:xfrm>
        </p:grpSpPr>
        <p:sp>
          <p:nvSpPr>
            <p:cNvPr id="14" name="Right Triangle 6">
              <a:extLst>
                <a:ext uri="{FF2B5EF4-FFF2-40B4-BE49-F238E27FC236}">
                  <a16:creationId xmlns:a16="http://schemas.microsoft.com/office/drawing/2014/main" id="{A2F07ECC-8947-DED4-E415-E8A0BEBB7006}"/>
                </a:ext>
              </a:extLst>
            </p:cNvPr>
            <p:cNvSpPr/>
            <p:nvPr/>
          </p:nvSpPr>
          <p:spPr>
            <a:xfrm flipH="1" flipV="1">
              <a:off x="10473025" y="0"/>
              <a:ext cx="572569" cy="57256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360"/>
                <a:gd name="f8" fmla="+- 0 0 -180"/>
                <a:gd name="f9" fmla="+- 0 0 -90"/>
                <a:gd name="f10" fmla="abs f3"/>
                <a:gd name="f11" fmla="abs f4"/>
                <a:gd name="f12" fmla="abs f5"/>
                <a:gd name="f13" fmla="val f6"/>
                <a:gd name="f14" fmla="*/ f7 f0 1"/>
                <a:gd name="f15" fmla="*/ f8 f0 1"/>
                <a:gd name="f16" fmla="*/ f9 f0 1"/>
                <a:gd name="f17" fmla="?: f10 f3 1"/>
                <a:gd name="f18" fmla="?: f11 f4 1"/>
                <a:gd name="f19" fmla="?: f12 f5 1"/>
                <a:gd name="f20" fmla="*/ f14 1 f2"/>
                <a:gd name="f21" fmla="*/ f15 1 f2"/>
                <a:gd name="f22" fmla="*/ f16 1 f2"/>
                <a:gd name="f23" fmla="*/ f17 1 21600"/>
                <a:gd name="f24" fmla="*/ f18 1 21600"/>
                <a:gd name="f25" fmla="*/ 21600 f17 1"/>
                <a:gd name="f26" fmla="*/ 21600 f18 1"/>
                <a:gd name="f27" fmla="+- f20 0 f1"/>
                <a:gd name="f28" fmla="+- f21 0 f1"/>
                <a:gd name="f29" fmla="+- f22 0 f1"/>
                <a:gd name="f30" fmla="min f24 f23"/>
                <a:gd name="f31" fmla="*/ f25 1 f19"/>
                <a:gd name="f32" fmla="*/ f26 1 f19"/>
                <a:gd name="f33" fmla="val f31"/>
                <a:gd name="f34" fmla="val f32"/>
                <a:gd name="f35" fmla="*/ f13 f30 1"/>
                <a:gd name="f36" fmla="+- f34 0 f13"/>
                <a:gd name="f37" fmla="+- f33 0 f13"/>
                <a:gd name="f38" fmla="*/ f34 f30 1"/>
                <a:gd name="f39" fmla="*/ f33 f30 1"/>
                <a:gd name="f40" fmla="*/ f36 1 2"/>
                <a:gd name="f41" fmla="*/ f37 1 2"/>
                <a:gd name="f42" fmla="*/ f37 1 12"/>
                <a:gd name="f43" fmla="*/ f36 7 1"/>
                <a:gd name="f44" fmla="*/ f37 7 1"/>
                <a:gd name="f45" fmla="*/ f36 11 1"/>
                <a:gd name="f46" fmla="+- f13 f40 0"/>
                <a:gd name="f47" fmla="+- f13 f41 0"/>
                <a:gd name="f48" fmla="*/ f43 1 12"/>
                <a:gd name="f49" fmla="*/ f44 1 12"/>
                <a:gd name="f50" fmla="*/ f45 1 12"/>
                <a:gd name="f51" fmla="*/ f42 f30 1"/>
                <a:gd name="f52" fmla="*/ f48 f30 1"/>
                <a:gd name="f53" fmla="*/ f49 f30 1"/>
                <a:gd name="f54" fmla="*/ f50 f30 1"/>
                <a:gd name="f55" fmla="*/ f47 f30 1"/>
                <a:gd name="f56" fmla="*/ f46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7">
                  <a:pos x="f35" y="f35"/>
                </a:cxn>
                <a:cxn ang="f28">
                  <a:pos x="f35" y="f38"/>
                </a:cxn>
                <a:cxn ang="f28">
                  <a:pos x="f39" y="f38"/>
                </a:cxn>
                <a:cxn ang="f29">
                  <a:pos x="f55" y="f56"/>
                </a:cxn>
              </a:cxnLst>
              <a:rect l="f51" t="f52" r="f53" b="f54"/>
              <a:pathLst>
                <a:path>
                  <a:moveTo>
                    <a:pt x="f35" y="f38"/>
                  </a:moveTo>
                  <a:lnTo>
                    <a:pt x="f35" y="f35"/>
                  </a:lnTo>
                  <a:lnTo>
                    <a:pt x="f39" y="f38"/>
                  </a:lnTo>
                  <a:close/>
                </a:path>
              </a:pathLst>
            </a:custGeom>
            <a:solidFill>
              <a:srgbClr val="E77817"/>
            </a:solidFill>
            <a:ln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15" name="Right Triangle 7">
              <a:extLst>
                <a:ext uri="{FF2B5EF4-FFF2-40B4-BE49-F238E27FC236}">
                  <a16:creationId xmlns:a16="http://schemas.microsoft.com/office/drawing/2014/main" id="{5FB919A4-59C7-32B0-55CA-657B1FD5B1BE}"/>
                </a:ext>
              </a:extLst>
            </p:cNvPr>
            <p:cNvSpPr/>
            <p:nvPr/>
          </p:nvSpPr>
          <p:spPr>
            <a:xfrm flipV="1">
              <a:off x="11046866" y="-3447"/>
              <a:ext cx="572569" cy="57256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360"/>
                <a:gd name="f8" fmla="+- 0 0 -180"/>
                <a:gd name="f9" fmla="+- 0 0 -90"/>
                <a:gd name="f10" fmla="abs f3"/>
                <a:gd name="f11" fmla="abs f4"/>
                <a:gd name="f12" fmla="abs f5"/>
                <a:gd name="f13" fmla="val f6"/>
                <a:gd name="f14" fmla="*/ f7 f0 1"/>
                <a:gd name="f15" fmla="*/ f8 f0 1"/>
                <a:gd name="f16" fmla="*/ f9 f0 1"/>
                <a:gd name="f17" fmla="?: f10 f3 1"/>
                <a:gd name="f18" fmla="?: f11 f4 1"/>
                <a:gd name="f19" fmla="?: f12 f5 1"/>
                <a:gd name="f20" fmla="*/ f14 1 f2"/>
                <a:gd name="f21" fmla="*/ f15 1 f2"/>
                <a:gd name="f22" fmla="*/ f16 1 f2"/>
                <a:gd name="f23" fmla="*/ f17 1 21600"/>
                <a:gd name="f24" fmla="*/ f18 1 21600"/>
                <a:gd name="f25" fmla="*/ 21600 f17 1"/>
                <a:gd name="f26" fmla="*/ 21600 f18 1"/>
                <a:gd name="f27" fmla="+- f20 0 f1"/>
                <a:gd name="f28" fmla="+- f21 0 f1"/>
                <a:gd name="f29" fmla="+- f22 0 f1"/>
                <a:gd name="f30" fmla="min f24 f23"/>
                <a:gd name="f31" fmla="*/ f25 1 f19"/>
                <a:gd name="f32" fmla="*/ f26 1 f19"/>
                <a:gd name="f33" fmla="val f31"/>
                <a:gd name="f34" fmla="val f32"/>
                <a:gd name="f35" fmla="*/ f13 f30 1"/>
                <a:gd name="f36" fmla="+- f34 0 f13"/>
                <a:gd name="f37" fmla="+- f33 0 f13"/>
                <a:gd name="f38" fmla="*/ f34 f30 1"/>
                <a:gd name="f39" fmla="*/ f33 f30 1"/>
                <a:gd name="f40" fmla="*/ f36 1 2"/>
                <a:gd name="f41" fmla="*/ f37 1 2"/>
                <a:gd name="f42" fmla="*/ f37 1 12"/>
                <a:gd name="f43" fmla="*/ f36 7 1"/>
                <a:gd name="f44" fmla="*/ f37 7 1"/>
                <a:gd name="f45" fmla="*/ f36 11 1"/>
                <a:gd name="f46" fmla="+- f13 f40 0"/>
                <a:gd name="f47" fmla="+- f13 f41 0"/>
                <a:gd name="f48" fmla="*/ f43 1 12"/>
                <a:gd name="f49" fmla="*/ f44 1 12"/>
                <a:gd name="f50" fmla="*/ f45 1 12"/>
                <a:gd name="f51" fmla="*/ f42 f30 1"/>
                <a:gd name="f52" fmla="*/ f48 f30 1"/>
                <a:gd name="f53" fmla="*/ f49 f30 1"/>
                <a:gd name="f54" fmla="*/ f50 f30 1"/>
                <a:gd name="f55" fmla="*/ f47 f30 1"/>
                <a:gd name="f56" fmla="*/ f46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7">
                  <a:pos x="f35" y="f35"/>
                </a:cxn>
                <a:cxn ang="f28">
                  <a:pos x="f35" y="f38"/>
                </a:cxn>
                <a:cxn ang="f28">
                  <a:pos x="f39" y="f38"/>
                </a:cxn>
                <a:cxn ang="f29">
                  <a:pos x="f55" y="f56"/>
                </a:cxn>
              </a:cxnLst>
              <a:rect l="f51" t="f52" r="f53" b="f54"/>
              <a:pathLst>
                <a:path>
                  <a:moveTo>
                    <a:pt x="f35" y="f38"/>
                  </a:moveTo>
                  <a:lnTo>
                    <a:pt x="f35" y="f35"/>
                  </a:lnTo>
                  <a:lnTo>
                    <a:pt x="f39" y="f38"/>
                  </a:lnTo>
                  <a:close/>
                </a:path>
              </a:pathLst>
            </a:custGeom>
            <a:solidFill>
              <a:srgbClr val="366B9D"/>
            </a:solidFill>
            <a:ln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16" name="Right Triangle 8">
              <a:extLst>
                <a:ext uri="{FF2B5EF4-FFF2-40B4-BE49-F238E27FC236}">
                  <a16:creationId xmlns:a16="http://schemas.microsoft.com/office/drawing/2014/main" id="{1BFC089D-6066-5320-DACB-917B473FF46E}"/>
                </a:ext>
              </a:extLst>
            </p:cNvPr>
            <p:cNvSpPr/>
            <p:nvPr/>
          </p:nvSpPr>
          <p:spPr>
            <a:xfrm flipH="1">
              <a:off x="11046866" y="-3447"/>
              <a:ext cx="572569" cy="57256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360"/>
                <a:gd name="f8" fmla="+- 0 0 -180"/>
                <a:gd name="f9" fmla="+- 0 0 -90"/>
                <a:gd name="f10" fmla="abs f3"/>
                <a:gd name="f11" fmla="abs f4"/>
                <a:gd name="f12" fmla="abs f5"/>
                <a:gd name="f13" fmla="val f6"/>
                <a:gd name="f14" fmla="*/ f7 f0 1"/>
                <a:gd name="f15" fmla="*/ f8 f0 1"/>
                <a:gd name="f16" fmla="*/ f9 f0 1"/>
                <a:gd name="f17" fmla="?: f10 f3 1"/>
                <a:gd name="f18" fmla="?: f11 f4 1"/>
                <a:gd name="f19" fmla="?: f12 f5 1"/>
                <a:gd name="f20" fmla="*/ f14 1 f2"/>
                <a:gd name="f21" fmla="*/ f15 1 f2"/>
                <a:gd name="f22" fmla="*/ f16 1 f2"/>
                <a:gd name="f23" fmla="*/ f17 1 21600"/>
                <a:gd name="f24" fmla="*/ f18 1 21600"/>
                <a:gd name="f25" fmla="*/ 21600 f17 1"/>
                <a:gd name="f26" fmla="*/ 21600 f18 1"/>
                <a:gd name="f27" fmla="+- f20 0 f1"/>
                <a:gd name="f28" fmla="+- f21 0 f1"/>
                <a:gd name="f29" fmla="+- f22 0 f1"/>
                <a:gd name="f30" fmla="min f24 f23"/>
                <a:gd name="f31" fmla="*/ f25 1 f19"/>
                <a:gd name="f32" fmla="*/ f26 1 f19"/>
                <a:gd name="f33" fmla="val f31"/>
                <a:gd name="f34" fmla="val f32"/>
                <a:gd name="f35" fmla="*/ f13 f30 1"/>
                <a:gd name="f36" fmla="+- f34 0 f13"/>
                <a:gd name="f37" fmla="+- f33 0 f13"/>
                <a:gd name="f38" fmla="*/ f34 f30 1"/>
                <a:gd name="f39" fmla="*/ f33 f30 1"/>
                <a:gd name="f40" fmla="*/ f36 1 2"/>
                <a:gd name="f41" fmla="*/ f37 1 2"/>
                <a:gd name="f42" fmla="*/ f37 1 12"/>
                <a:gd name="f43" fmla="*/ f36 7 1"/>
                <a:gd name="f44" fmla="*/ f37 7 1"/>
                <a:gd name="f45" fmla="*/ f36 11 1"/>
                <a:gd name="f46" fmla="+- f13 f40 0"/>
                <a:gd name="f47" fmla="+- f13 f41 0"/>
                <a:gd name="f48" fmla="*/ f43 1 12"/>
                <a:gd name="f49" fmla="*/ f44 1 12"/>
                <a:gd name="f50" fmla="*/ f45 1 12"/>
                <a:gd name="f51" fmla="*/ f42 f30 1"/>
                <a:gd name="f52" fmla="*/ f48 f30 1"/>
                <a:gd name="f53" fmla="*/ f49 f30 1"/>
                <a:gd name="f54" fmla="*/ f50 f30 1"/>
                <a:gd name="f55" fmla="*/ f47 f30 1"/>
                <a:gd name="f56" fmla="*/ f46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7">
                  <a:pos x="f35" y="f35"/>
                </a:cxn>
                <a:cxn ang="f28">
                  <a:pos x="f35" y="f38"/>
                </a:cxn>
                <a:cxn ang="f28">
                  <a:pos x="f39" y="f38"/>
                </a:cxn>
                <a:cxn ang="f29">
                  <a:pos x="f55" y="f56"/>
                </a:cxn>
              </a:cxnLst>
              <a:rect l="f51" t="f52" r="f53" b="f54"/>
              <a:pathLst>
                <a:path>
                  <a:moveTo>
                    <a:pt x="f35" y="f38"/>
                  </a:moveTo>
                  <a:lnTo>
                    <a:pt x="f35" y="f35"/>
                  </a:lnTo>
                  <a:lnTo>
                    <a:pt x="f39" y="f38"/>
                  </a:lnTo>
                  <a:close/>
                </a:path>
              </a:pathLst>
            </a:custGeom>
            <a:solidFill>
              <a:srgbClr val="E77817"/>
            </a:solidFill>
            <a:ln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17" name="Right Triangle 9">
              <a:extLst>
                <a:ext uri="{FF2B5EF4-FFF2-40B4-BE49-F238E27FC236}">
                  <a16:creationId xmlns:a16="http://schemas.microsoft.com/office/drawing/2014/main" id="{361D1491-7960-49FF-0627-FA97C528DA14}"/>
                </a:ext>
              </a:extLst>
            </p:cNvPr>
            <p:cNvSpPr/>
            <p:nvPr/>
          </p:nvSpPr>
          <p:spPr>
            <a:xfrm flipH="1" flipV="1">
              <a:off x="11619436" y="569122"/>
              <a:ext cx="572569" cy="57256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ss"/>
                <a:gd name="f6" fmla="val 0"/>
                <a:gd name="f7" fmla="+- 0 0 -360"/>
                <a:gd name="f8" fmla="+- 0 0 -180"/>
                <a:gd name="f9" fmla="+- 0 0 -90"/>
                <a:gd name="f10" fmla="abs f3"/>
                <a:gd name="f11" fmla="abs f4"/>
                <a:gd name="f12" fmla="abs f5"/>
                <a:gd name="f13" fmla="val f6"/>
                <a:gd name="f14" fmla="*/ f7 f0 1"/>
                <a:gd name="f15" fmla="*/ f8 f0 1"/>
                <a:gd name="f16" fmla="*/ f9 f0 1"/>
                <a:gd name="f17" fmla="?: f10 f3 1"/>
                <a:gd name="f18" fmla="?: f11 f4 1"/>
                <a:gd name="f19" fmla="?: f12 f5 1"/>
                <a:gd name="f20" fmla="*/ f14 1 f2"/>
                <a:gd name="f21" fmla="*/ f15 1 f2"/>
                <a:gd name="f22" fmla="*/ f16 1 f2"/>
                <a:gd name="f23" fmla="*/ f17 1 21600"/>
                <a:gd name="f24" fmla="*/ f18 1 21600"/>
                <a:gd name="f25" fmla="*/ 21600 f17 1"/>
                <a:gd name="f26" fmla="*/ 21600 f18 1"/>
                <a:gd name="f27" fmla="+- f20 0 f1"/>
                <a:gd name="f28" fmla="+- f21 0 f1"/>
                <a:gd name="f29" fmla="+- f22 0 f1"/>
                <a:gd name="f30" fmla="min f24 f23"/>
                <a:gd name="f31" fmla="*/ f25 1 f19"/>
                <a:gd name="f32" fmla="*/ f26 1 f19"/>
                <a:gd name="f33" fmla="val f31"/>
                <a:gd name="f34" fmla="val f32"/>
                <a:gd name="f35" fmla="*/ f13 f30 1"/>
                <a:gd name="f36" fmla="+- f34 0 f13"/>
                <a:gd name="f37" fmla="+- f33 0 f13"/>
                <a:gd name="f38" fmla="*/ f34 f30 1"/>
                <a:gd name="f39" fmla="*/ f33 f30 1"/>
                <a:gd name="f40" fmla="*/ f36 1 2"/>
                <a:gd name="f41" fmla="*/ f37 1 2"/>
                <a:gd name="f42" fmla="*/ f37 1 12"/>
                <a:gd name="f43" fmla="*/ f36 7 1"/>
                <a:gd name="f44" fmla="*/ f37 7 1"/>
                <a:gd name="f45" fmla="*/ f36 11 1"/>
                <a:gd name="f46" fmla="+- f13 f40 0"/>
                <a:gd name="f47" fmla="+- f13 f41 0"/>
                <a:gd name="f48" fmla="*/ f43 1 12"/>
                <a:gd name="f49" fmla="*/ f44 1 12"/>
                <a:gd name="f50" fmla="*/ f45 1 12"/>
                <a:gd name="f51" fmla="*/ f42 f30 1"/>
                <a:gd name="f52" fmla="*/ f48 f30 1"/>
                <a:gd name="f53" fmla="*/ f49 f30 1"/>
                <a:gd name="f54" fmla="*/ f50 f30 1"/>
                <a:gd name="f55" fmla="*/ f47 f30 1"/>
                <a:gd name="f56" fmla="*/ f46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7">
                  <a:pos x="f35" y="f35"/>
                </a:cxn>
                <a:cxn ang="f28">
                  <a:pos x="f35" y="f38"/>
                </a:cxn>
                <a:cxn ang="f28">
                  <a:pos x="f39" y="f38"/>
                </a:cxn>
                <a:cxn ang="f29">
                  <a:pos x="f55" y="f56"/>
                </a:cxn>
              </a:cxnLst>
              <a:rect l="f51" t="f52" r="f53" b="f54"/>
              <a:pathLst>
                <a:path>
                  <a:moveTo>
                    <a:pt x="f35" y="f38"/>
                  </a:moveTo>
                  <a:lnTo>
                    <a:pt x="f35" y="f35"/>
                  </a:lnTo>
                  <a:lnTo>
                    <a:pt x="f39" y="f38"/>
                  </a:lnTo>
                  <a:close/>
                </a:path>
              </a:pathLst>
            </a:custGeom>
            <a:solidFill>
              <a:srgbClr val="E77817"/>
            </a:solidFill>
            <a:ln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18" name="Rectangle 10">
              <a:extLst>
                <a:ext uri="{FF2B5EF4-FFF2-40B4-BE49-F238E27FC236}">
                  <a16:creationId xmlns:a16="http://schemas.microsoft.com/office/drawing/2014/main" id="{65F134EA-C3E4-0E65-F007-12E2A67B0186}"/>
                </a:ext>
              </a:extLst>
            </p:cNvPr>
            <p:cNvSpPr/>
            <p:nvPr/>
          </p:nvSpPr>
          <p:spPr>
            <a:xfrm>
              <a:off x="11619436" y="0"/>
              <a:ext cx="572569" cy="572569"/>
            </a:xfrm>
            <a:prstGeom prst="rect">
              <a:avLst/>
            </a:prstGeom>
            <a:solidFill>
              <a:srgbClr val="366B9D"/>
            </a:solidFill>
            <a:ln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902489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2E3AE-8124-7F31-D5C7-D820D5D877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5601" y="231772"/>
            <a:ext cx="10617198" cy="57498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>
                <a:solidFill>
                  <a:srgbClr val="366B9D"/>
                </a:solidFill>
                <a:ea typeface="Lato" pitchFamily="34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86521-FCA0-05ED-8C79-38F6603DA0C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55601" y="1104896"/>
            <a:ext cx="11341102" cy="5228164"/>
          </a:xfrm>
        </p:spPr>
        <p:txBody>
          <a:bodyPr/>
          <a:lstStyle>
            <a:lvl1pPr marL="444498" indent="-444498">
              <a:buClr>
                <a:srgbClr val="000000"/>
              </a:buClr>
              <a:buFont typeface="Lato" pitchFamily="34"/>
              <a:buChar char="—"/>
              <a:defRPr sz="2000">
                <a:ea typeface="Lato" pitchFamily="34"/>
              </a:defRPr>
            </a:lvl1pPr>
            <a:lvl2pPr marL="812801" indent="-355601">
              <a:buClr>
                <a:srgbClr val="404040"/>
              </a:buClr>
              <a:buFont typeface="Lato" pitchFamily="34"/>
              <a:buChar char="—"/>
              <a:defRPr sz="1800">
                <a:ea typeface="Lato" pitchFamily="34"/>
              </a:defRPr>
            </a:lvl2pPr>
            <a:lvl3pPr marL="1257300" indent="-342900">
              <a:buClr>
                <a:srgbClr val="7F7F7F"/>
              </a:buClr>
              <a:buFont typeface="Lato" pitchFamily="34"/>
              <a:buChar char="—"/>
              <a:defRPr sz="1600">
                <a:ea typeface="Lato" pitchFamily="34"/>
              </a:defRPr>
            </a:lvl3pPr>
            <a:lvl4pPr>
              <a:buClr>
                <a:srgbClr val="7F7F7F"/>
              </a:buClr>
              <a:buFont typeface="Lato" pitchFamily="34"/>
              <a:buChar char="—"/>
              <a:defRPr sz="1400">
                <a:ea typeface="Lato" pitchFamily="34"/>
              </a:defRPr>
            </a:lvl4pPr>
            <a:lvl5pPr>
              <a:buClr>
                <a:srgbClr val="A6A6A6"/>
              </a:buClr>
              <a:buFont typeface="Lato" pitchFamily="34"/>
              <a:buChar char="—"/>
              <a:defRPr sz="1400">
                <a:ea typeface="Lato" pitchFamily="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5BDA81B8-E77B-6591-F491-A87DD3E8A9E0}"/>
              </a:ext>
            </a:extLst>
          </p:cNvPr>
          <p:cNvSpPr txBox="1"/>
          <p:nvPr/>
        </p:nvSpPr>
        <p:spPr>
          <a:xfrm>
            <a:off x="249804" y="6481386"/>
            <a:ext cx="3921267" cy="261609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100" b="0" i="0" u="none" strike="noStrike" kern="1200" cap="none" spc="0" baseline="0">
                <a:solidFill>
                  <a:srgbClr val="595959"/>
                </a:solidFill>
                <a:uFillTx/>
                <a:latin typeface="Poppins" pitchFamily="2"/>
                <a:ea typeface="Lato" pitchFamily="34"/>
                <a:cs typeface="Poppins" pitchFamily="2"/>
              </a:rPr>
              <a:t>© Copyright : Centre for Computational Technologies</a:t>
            </a:r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23DFE21D-5DBB-296D-5AB6-FF1B4E29846F}"/>
              </a:ext>
            </a:extLst>
          </p:cNvPr>
          <p:cNvGrpSpPr/>
          <p:nvPr/>
        </p:nvGrpSpPr>
        <p:grpSpPr>
          <a:xfrm>
            <a:off x="9616689" y="6481386"/>
            <a:ext cx="1401345" cy="261609"/>
            <a:chOff x="9616689" y="6481386"/>
            <a:chExt cx="1401345" cy="261609"/>
          </a:xfrm>
        </p:grpSpPr>
        <p:sp>
          <p:nvSpPr>
            <p:cNvPr id="6" name="Rectangle 15">
              <a:extLst>
                <a:ext uri="{FF2B5EF4-FFF2-40B4-BE49-F238E27FC236}">
                  <a16:creationId xmlns:a16="http://schemas.microsoft.com/office/drawing/2014/main" id="{B937142A-0F2C-3CBA-D8AF-5C0B708B8918}"/>
                </a:ext>
              </a:extLst>
            </p:cNvPr>
            <p:cNvSpPr/>
            <p:nvPr/>
          </p:nvSpPr>
          <p:spPr>
            <a:xfrm>
              <a:off x="9616689" y="6481386"/>
              <a:ext cx="1401345" cy="261609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vert="horz" wrap="none" lIns="91440" tIns="45720" rIns="91440" bIns="45720" anchor="t" anchorCtr="0" compatLnSpc="1">
              <a:spAutoFit/>
            </a:bodyPr>
            <a:lstStyle/>
            <a:p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N" sz="1100" b="0" i="0" u="none" strike="noStrike" kern="1200" cap="none" spc="0" baseline="0">
                  <a:solidFill>
                    <a:srgbClr val="166FA9"/>
                  </a:solidFill>
                  <a:uFillTx/>
                  <a:latin typeface="Poppins" pitchFamily="2"/>
                  <a:ea typeface="Lato" pitchFamily="34"/>
                  <a:cs typeface="Poppins" pitchFamily="2"/>
                </a:rPr>
                <a:t>www.cctech.co.in</a:t>
              </a:r>
            </a:p>
          </p:txBody>
        </p:sp>
        <p:sp>
          <p:nvSpPr>
            <p:cNvPr id="7" name="Rectangle 17">
              <a:hlinkClick r:id="rId2"/>
              <a:extLst>
                <a:ext uri="{FF2B5EF4-FFF2-40B4-BE49-F238E27FC236}">
                  <a16:creationId xmlns:a16="http://schemas.microsoft.com/office/drawing/2014/main" id="{784021DF-AD4F-3669-DBCA-26EF3912C243}"/>
                </a:ext>
              </a:extLst>
            </p:cNvPr>
            <p:cNvSpPr/>
            <p:nvPr/>
          </p:nvSpPr>
          <p:spPr>
            <a:xfrm>
              <a:off x="9703256" y="6541672"/>
              <a:ext cx="1235637" cy="177869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N" sz="1400" b="0" i="0" u="none" strike="noStrike" kern="1200" cap="none" spc="0" baseline="0">
                <a:solidFill>
                  <a:srgbClr val="FFFFFF"/>
                </a:solidFill>
                <a:uFillTx/>
                <a:latin typeface="Poppins" pitchFamily="2"/>
                <a:cs typeface="Poppins" pitchFamily="2"/>
              </a:endParaRPr>
            </a:p>
          </p:txBody>
        </p:sp>
      </p:grpSp>
      <p:pic>
        <p:nvPicPr>
          <p:cNvPr id="8" name="Picture 18">
            <a:hlinkClick r:id="rId2"/>
            <a:extLst>
              <a:ext uri="{FF2B5EF4-FFF2-40B4-BE49-F238E27FC236}">
                <a16:creationId xmlns:a16="http://schemas.microsoft.com/office/drawing/2014/main" id="{00FAFD80-ACD1-82DC-4F8E-DB734B172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0134" y="263456"/>
            <a:ext cx="568802" cy="5045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ight Triangle 4">
            <a:extLst>
              <a:ext uri="{FF2B5EF4-FFF2-40B4-BE49-F238E27FC236}">
                <a16:creationId xmlns:a16="http://schemas.microsoft.com/office/drawing/2014/main" id="{48C62A96-60CA-E05B-995E-4409FBBCDA7C}"/>
              </a:ext>
            </a:extLst>
          </p:cNvPr>
          <p:cNvSpPr/>
          <p:nvPr/>
        </p:nvSpPr>
        <p:spPr>
          <a:xfrm flipH="1">
            <a:off x="11619436" y="6285430"/>
            <a:ext cx="572569" cy="57256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360"/>
              <a:gd name="f8" fmla="+- 0 0 -180"/>
              <a:gd name="f9" fmla="+- 0 0 -90"/>
              <a:gd name="f10" fmla="abs f3"/>
              <a:gd name="f11" fmla="abs f4"/>
              <a:gd name="f12" fmla="abs f5"/>
              <a:gd name="f13" fmla="val f6"/>
              <a:gd name="f14" fmla="*/ f7 f0 1"/>
              <a:gd name="f15" fmla="*/ f8 f0 1"/>
              <a:gd name="f16" fmla="*/ f9 f0 1"/>
              <a:gd name="f17" fmla="?: f10 f3 1"/>
              <a:gd name="f18" fmla="?: f11 f4 1"/>
              <a:gd name="f19" fmla="?: f12 f5 1"/>
              <a:gd name="f20" fmla="*/ f14 1 f2"/>
              <a:gd name="f21" fmla="*/ f15 1 f2"/>
              <a:gd name="f22" fmla="*/ f16 1 f2"/>
              <a:gd name="f23" fmla="*/ f17 1 21600"/>
              <a:gd name="f24" fmla="*/ f18 1 21600"/>
              <a:gd name="f25" fmla="*/ 21600 f17 1"/>
              <a:gd name="f26" fmla="*/ 21600 f18 1"/>
              <a:gd name="f27" fmla="+- f20 0 f1"/>
              <a:gd name="f28" fmla="+- f21 0 f1"/>
              <a:gd name="f29" fmla="+- f22 0 f1"/>
              <a:gd name="f30" fmla="min f24 f23"/>
              <a:gd name="f31" fmla="*/ f25 1 f19"/>
              <a:gd name="f32" fmla="*/ f26 1 f19"/>
              <a:gd name="f33" fmla="val f31"/>
              <a:gd name="f34" fmla="val f32"/>
              <a:gd name="f35" fmla="*/ f13 f30 1"/>
              <a:gd name="f36" fmla="+- f34 0 f13"/>
              <a:gd name="f37" fmla="+- f33 0 f13"/>
              <a:gd name="f38" fmla="*/ f34 f30 1"/>
              <a:gd name="f39" fmla="*/ f33 f30 1"/>
              <a:gd name="f40" fmla="*/ f36 1 2"/>
              <a:gd name="f41" fmla="*/ f37 1 2"/>
              <a:gd name="f42" fmla="*/ f37 1 12"/>
              <a:gd name="f43" fmla="*/ f36 7 1"/>
              <a:gd name="f44" fmla="*/ f37 7 1"/>
              <a:gd name="f45" fmla="*/ f36 11 1"/>
              <a:gd name="f46" fmla="+- f13 f40 0"/>
              <a:gd name="f47" fmla="+- f13 f41 0"/>
              <a:gd name="f48" fmla="*/ f43 1 12"/>
              <a:gd name="f49" fmla="*/ f44 1 12"/>
              <a:gd name="f50" fmla="*/ f45 1 12"/>
              <a:gd name="f51" fmla="*/ f42 f30 1"/>
              <a:gd name="f52" fmla="*/ f48 f30 1"/>
              <a:gd name="f53" fmla="*/ f49 f30 1"/>
              <a:gd name="f54" fmla="*/ f50 f30 1"/>
              <a:gd name="f55" fmla="*/ f47 f30 1"/>
              <a:gd name="f56" fmla="*/ f46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35" y="f35"/>
              </a:cxn>
              <a:cxn ang="f28">
                <a:pos x="f35" y="f38"/>
              </a:cxn>
              <a:cxn ang="f28">
                <a:pos x="f39" y="f38"/>
              </a:cxn>
              <a:cxn ang="f29">
                <a:pos x="f55" y="f56"/>
              </a:cxn>
            </a:cxnLst>
            <a:rect l="f51" t="f52" r="f53" b="f54"/>
            <a:pathLst>
              <a:path>
                <a:moveTo>
                  <a:pt x="f35" y="f38"/>
                </a:moveTo>
                <a:lnTo>
                  <a:pt x="f35" y="f35"/>
                </a:lnTo>
                <a:lnTo>
                  <a:pt x="f39" y="f38"/>
                </a:lnTo>
                <a:close/>
              </a:path>
            </a:pathLst>
          </a:custGeom>
          <a:solidFill>
            <a:srgbClr val="E77817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8C5A90-5520-30E1-AE40-194C21689AB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780361" y="6492870"/>
            <a:ext cx="469901" cy="365129"/>
          </a:xfrm>
        </p:spPr>
        <p:txBody>
          <a:bodyPr/>
          <a:lstStyle>
            <a:lvl1pPr>
              <a:defRPr sz="800">
                <a:solidFill>
                  <a:srgbClr val="FFFFFF"/>
                </a:solidFill>
                <a:ea typeface="Lato" pitchFamily="34"/>
              </a:defRPr>
            </a:lvl1pPr>
          </a:lstStyle>
          <a:p>
            <a:pPr lvl="0"/>
            <a:fld id="{0B849709-20CA-4F8F-B2F1-865E55F5548A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34003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03476-0901-52C6-9132-56692092AC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5601" y="231772"/>
            <a:ext cx="10625666" cy="57498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>
                <a:solidFill>
                  <a:srgbClr val="366B9D"/>
                </a:solidFill>
                <a:ea typeface="Lato" pitchFamily="34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Box 20">
            <a:extLst>
              <a:ext uri="{FF2B5EF4-FFF2-40B4-BE49-F238E27FC236}">
                <a16:creationId xmlns:a16="http://schemas.microsoft.com/office/drawing/2014/main" id="{D324235D-DC6B-6930-A0EC-11A37631D1EE}"/>
              </a:ext>
            </a:extLst>
          </p:cNvPr>
          <p:cNvSpPr txBox="1"/>
          <p:nvPr/>
        </p:nvSpPr>
        <p:spPr>
          <a:xfrm>
            <a:off x="249804" y="6481386"/>
            <a:ext cx="3921267" cy="261609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100" b="0" i="0" u="none" strike="noStrike" kern="1200" cap="none" spc="0" baseline="0">
                <a:solidFill>
                  <a:srgbClr val="595959"/>
                </a:solidFill>
                <a:uFillTx/>
                <a:latin typeface="Poppins" pitchFamily="2"/>
                <a:ea typeface="Lato" pitchFamily="34"/>
                <a:cs typeface="Poppins" pitchFamily="2"/>
              </a:rPr>
              <a:t>© Copyright : Centre for Computational Technologies</a:t>
            </a:r>
          </a:p>
        </p:txBody>
      </p:sp>
      <p:pic>
        <p:nvPicPr>
          <p:cNvPr id="4" name="Picture 28">
            <a:hlinkClick r:id="rId2"/>
            <a:extLst>
              <a:ext uri="{FF2B5EF4-FFF2-40B4-BE49-F238E27FC236}">
                <a16:creationId xmlns:a16="http://schemas.microsoft.com/office/drawing/2014/main" id="{5FF7E498-D353-1947-ECC6-AF073A205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0134" y="263456"/>
            <a:ext cx="568802" cy="5045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10">
            <a:extLst>
              <a:ext uri="{FF2B5EF4-FFF2-40B4-BE49-F238E27FC236}">
                <a16:creationId xmlns:a16="http://schemas.microsoft.com/office/drawing/2014/main" id="{CA2DD572-11E1-67FC-ACD7-9FE831F1FE22}"/>
              </a:ext>
            </a:extLst>
          </p:cNvPr>
          <p:cNvGrpSpPr/>
          <p:nvPr/>
        </p:nvGrpSpPr>
        <p:grpSpPr>
          <a:xfrm>
            <a:off x="9616689" y="6481386"/>
            <a:ext cx="1401345" cy="261609"/>
            <a:chOff x="9616689" y="6481386"/>
            <a:chExt cx="1401345" cy="261609"/>
          </a:xfrm>
        </p:grpSpPr>
        <p:sp>
          <p:nvSpPr>
            <p:cNvPr id="6" name="Rectangle 11">
              <a:extLst>
                <a:ext uri="{FF2B5EF4-FFF2-40B4-BE49-F238E27FC236}">
                  <a16:creationId xmlns:a16="http://schemas.microsoft.com/office/drawing/2014/main" id="{2DBAD8D6-9D0A-DA6E-AAD9-0252FF90C130}"/>
                </a:ext>
              </a:extLst>
            </p:cNvPr>
            <p:cNvSpPr/>
            <p:nvPr/>
          </p:nvSpPr>
          <p:spPr>
            <a:xfrm>
              <a:off x="9616689" y="6481386"/>
              <a:ext cx="1401345" cy="261609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vert="horz" wrap="none" lIns="91440" tIns="45720" rIns="91440" bIns="45720" anchor="t" anchorCtr="0" compatLnSpc="1">
              <a:spAutoFit/>
            </a:bodyPr>
            <a:lstStyle/>
            <a:p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N" sz="1100" b="0" i="0" u="none" strike="noStrike" kern="1200" cap="none" spc="0" baseline="0">
                  <a:solidFill>
                    <a:srgbClr val="166FA9"/>
                  </a:solidFill>
                  <a:uFillTx/>
                  <a:latin typeface="Poppins" pitchFamily="2"/>
                  <a:ea typeface="Lato" pitchFamily="34"/>
                  <a:cs typeface="Poppins" pitchFamily="2"/>
                </a:rPr>
                <a:t>www.cctech.co.in</a:t>
              </a:r>
            </a:p>
          </p:txBody>
        </p:sp>
        <p:sp>
          <p:nvSpPr>
            <p:cNvPr id="7" name="Rectangle 12">
              <a:hlinkClick r:id="rId2"/>
              <a:extLst>
                <a:ext uri="{FF2B5EF4-FFF2-40B4-BE49-F238E27FC236}">
                  <a16:creationId xmlns:a16="http://schemas.microsoft.com/office/drawing/2014/main" id="{2801D433-03C0-D779-1DF3-5088570920B2}"/>
                </a:ext>
              </a:extLst>
            </p:cNvPr>
            <p:cNvSpPr/>
            <p:nvPr/>
          </p:nvSpPr>
          <p:spPr>
            <a:xfrm>
              <a:off x="9703256" y="6541672"/>
              <a:ext cx="1235637" cy="177869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N" sz="1400" b="0" i="0" u="none" strike="noStrike" kern="1200" cap="none" spc="0" baseline="0">
                <a:solidFill>
                  <a:srgbClr val="FFFFFF"/>
                </a:solidFill>
                <a:uFillTx/>
                <a:latin typeface="Poppins" pitchFamily="2"/>
                <a:cs typeface="Poppins" pitchFamily="2"/>
              </a:endParaRPr>
            </a:p>
          </p:txBody>
        </p:sp>
      </p:grpSp>
      <p:sp>
        <p:nvSpPr>
          <p:cNvPr id="8" name="Right Triangle 1">
            <a:extLst>
              <a:ext uri="{FF2B5EF4-FFF2-40B4-BE49-F238E27FC236}">
                <a16:creationId xmlns:a16="http://schemas.microsoft.com/office/drawing/2014/main" id="{E6E640F3-CDF8-DDEA-AA3C-1E5C278DCA08}"/>
              </a:ext>
            </a:extLst>
          </p:cNvPr>
          <p:cNvSpPr/>
          <p:nvPr/>
        </p:nvSpPr>
        <p:spPr>
          <a:xfrm flipH="1">
            <a:off x="11619436" y="6285430"/>
            <a:ext cx="572569" cy="57256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360"/>
              <a:gd name="f8" fmla="+- 0 0 -180"/>
              <a:gd name="f9" fmla="+- 0 0 -90"/>
              <a:gd name="f10" fmla="abs f3"/>
              <a:gd name="f11" fmla="abs f4"/>
              <a:gd name="f12" fmla="abs f5"/>
              <a:gd name="f13" fmla="val f6"/>
              <a:gd name="f14" fmla="*/ f7 f0 1"/>
              <a:gd name="f15" fmla="*/ f8 f0 1"/>
              <a:gd name="f16" fmla="*/ f9 f0 1"/>
              <a:gd name="f17" fmla="?: f10 f3 1"/>
              <a:gd name="f18" fmla="?: f11 f4 1"/>
              <a:gd name="f19" fmla="?: f12 f5 1"/>
              <a:gd name="f20" fmla="*/ f14 1 f2"/>
              <a:gd name="f21" fmla="*/ f15 1 f2"/>
              <a:gd name="f22" fmla="*/ f16 1 f2"/>
              <a:gd name="f23" fmla="*/ f17 1 21600"/>
              <a:gd name="f24" fmla="*/ f18 1 21600"/>
              <a:gd name="f25" fmla="*/ 21600 f17 1"/>
              <a:gd name="f26" fmla="*/ 21600 f18 1"/>
              <a:gd name="f27" fmla="+- f20 0 f1"/>
              <a:gd name="f28" fmla="+- f21 0 f1"/>
              <a:gd name="f29" fmla="+- f22 0 f1"/>
              <a:gd name="f30" fmla="min f24 f23"/>
              <a:gd name="f31" fmla="*/ f25 1 f19"/>
              <a:gd name="f32" fmla="*/ f26 1 f19"/>
              <a:gd name="f33" fmla="val f31"/>
              <a:gd name="f34" fmla="val f32"/>
              <a:gd name="f35" fmla="*/ f13 f30 1"/>
              <a:gd name="f36" fmla="+- f34 0 f13"/>
              <a:gd name="f37" fmla="+- f33 0 f13"/>
              <a:gd name="f38" fmla="*/ f34 f30 1"/>
              <a:gd name="f39" fmla="*/ f33 f30 1"/>
              <a:gd name="f40" fmla="*/ f36 1 2"/>
              <a:gd name="f41" fmla="*/ f37 1 2"/>
              <a:gd name="f42" fmla="*/ f37 1 12"/>
              <a:gd name="f43" fmla="*/ f36 7 1"/>
              <a:gd name="f44" fmla="*/ f37 7 1"/>
              <a:gd name="f45" fmla="*/ f36 11 1"/>
              <a:gd name="f46" fmla="+- f13 f40 0"/>
              <a:gd name="f47" fmla="+- f13 f41 0"/>
              <a:gd name="f48" fmla="*/ f43 1 12"/>
              <a:gd name="f49" fmla="*/ f44 1 12"/>
              <a:gd name="f50" fmla="*/ f45 1 12"/>
              <a:gd name="f51" fmla="*/ f42 f30 1"/>
              <a:gd name="f52" fmla="*/ f48 f30 1"/>
              <a:gd name="f53" fmla="*/ f49 f30 1"/>
              <a:gd name="f54" fmla="*/ f50 f30 1"/>
              <a:gd name="f55" fmla="*/ f47 f30 1"/>
              <a:gd name="f56" fmla="*/ f46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35" y="f35"/>
              </a:cxn>
              <a:cxn ang="f28">
                <a:pos x="f35" y="f38"/>
              </a:cxn>
              <a:cxn ang="f28">
                <a:pos x="f39" y="f38"/>
              </a:cxn>
              <a:cxn ang="f29">
                <a:pos x="f55" y="f56"/>
              </a:cxn>
            </a:cxnLst>
            <a:rect l="f51" t="f52" r="f53" b="f54"/>
            <a:pathLst>
              <a:path>
                <a:moveTo>
                  <a:pt x="f35" y="f38"/>
                </a:moveTo>
                <a:lnTo>
                  <a:pt x="f35" y="f35"/>
                </a:lnTo>
                <a:lnTo>
                  <a:pt x="f39" y="f38"/>
                </a:lnTo>
                <a:close/>
              </a:path>
            </a:pathLst>
          </a:custGeom>
          <a:solidFill>
            <a:srgbClr val="E77817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AD5E12C-4B40-AE87-353C-DF4412C2760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780361" y="6492870"/>
            <a:ext cx="469901" cy="365129"/>
          </a:xfrm>
        </p:spPr>
        <p:txBody>
          <a:bodyPr/>
          <a:lstStyle>
            <a:lvl1pPr>
              <a:defRPr sz="800">
                <a:solidFill>
                  <a:srgbClr val="FFFFFF"/>
                </a:solidFill>
                <a:ea typeface="Lato" pitchFamily="34"/>
              </a:defRPr>
            </a:lvl1pPr>
          </a:lstStyle>
          <a:p>
            <a:pPr lvl="0"/>
            <a:fld id="{EC206132-F74C-4156-B082-67777BFBF15A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00640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BEDDA4B5-D89D-B67A-DF8C-D446781CDA64}"/>
              </a:ext>
            </a:extLst>
          </p:cNvPr>
          <p:cNvSpPr txBox="1"/>
          <p:nvPr/>
        </p:nvSpPr>
        <p:spPr>
          <a:xfrm>
            <a:off x="249804" y="6481386"/>
            <a:ext cx="3921267" cy="261609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100" b="0" i="0" u="none" strike="noStrike" kern="1200" cap="none" spc="0" baseline="0">
                <a:solidFill>
                  <a:srgbClr val="595959"/>
                </a:solidFill>
                <a:uFillTx/>
                <a:latin typeface="Poppins" pitchFamily="2"/>
                <a:ea typeface="Lato" pitchFamily="34"/>
                <a:cs typeface="Poppins" pitchFamily="2"/>
              </a:rPr>
              <a:t>© Copyright : Centre for Computational Technologies</a:t>
            </a:r>
          </a:p>
        </p:txBody>
      </p:sp>
      <p:pic>
        <p:nvPicPr>
          <p:cNvPr id="3" name="Picture 26">
            <a:hlinkClick r:id="rId2"/>
            <a:extLst>
              <a:ext uri="{FF2B5EF4-FFF2-40B4-BE49-F238E27FC236}">
                <a16:creationId xmlns:a16="http://schemas.microsoft.com/office/drawing/2014/main" id="{D1EAD2E9-5C88-BAE5-4FE4-881008E15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0134" y="263456"/>
            <a:ext cx="568802" cy="5045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8">
            <a:extLst>
              <a:ext uri="{FF2B5EF4-FFF2-40B4-BE49-F238E27FC236}">
                <a16:creationId xmlns:a16="http://schemas.microsoft.com/office/drawing/2014/main" id="{27AEAAD3-F8CF-08D9-175B-8C73104F0E64}"/>
              </a:ext>
            </a:extLst>
          </p:cNvPr>
          <p:cNvGrpSpPr/>
          <p:nvPr/>
        </p:nvGrpSpPr>
        <p:grpSpPr>
          <a:xfrm>
            <a:off x="9616689" y="6481386"/>
            <a:ext cx="1401345" cy="261609"/>
            <a:chOff x="9616689" y="6481386"/>
            <a:chExt cx="1401345" cy="261609"/>
          </a:xfrm>
        </p:grpSpPr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E6F3847E-61E5-5363-48E5-EA0C403D628D}"/>
                </a:ext>
              </a:extLst>
            </p:cNvPr>
            <p:cNvSpPr/>
            <p:nvPr/>
          </p:nvSpPr>
          <p:spPr>
            <a:xfrm>
              <a:off x="9616689" y="6481386"/>
              <a:ext cx="1401345" cy="261609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vert="horz" wrap="none" lIns="91440" tIns="45720" rIns="91440" bIns="45720" anchor="t" anchorCtr="0" compatLnSpc="1">
              <a:spAutoFit/>
            </a:bodyPr>
            <a:lstStyle/>
            <a:p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N" sz="1100" b="0" i="0" u="none" strike="noStrike" kern="1200" cap="none" spc="0" baseline="0">
                  <a:solidFill>
                    <a:srgbClr val="166FA9"/>
                  </a:solidFill>
                  <a:uFillTx/>
                  <a:latin typeface="Poppins" pitchFamily="2"/>
                  <a:ea typeface="Lato" pitchFamily="34"/>
                  <a:cs typeface="Poppins" pitchFamily="2"/>
                </a:rPr>
                <a:t>www.cctech.co.in</a:t>
              </a:r>
            </a:p>
          </p:txBody>
        </p:sp>
        <p:sp>
          <p:nvSpPr>
            <p:cNvPr id="6" name="Rectangle 10">
              <a:hlinkClick r:id="rId2"/>
              <a:extLst>
                <a:ext uri="{FF2B5EF4-FFF2-40B4-BE49-F238E27FC236}">
                  <a16:creationId xmlns:a16="http://schemas.microsoft.com/office/drawing/2014/main" id="{EF35E909-1976-2AB2-0DDC-A0E38C71BD52}"/>
                </a:ext>
              </a:extLst>
            </p:cNvPr>
            <p:cNvSpPr/>
            <p:nvPr/>
          </p:nvSpPr>
          <p:spPr>
            <a:xfrm>
              <a:off x="9703256" y="6541672"/>
              <a:ext cx="1235637" cy="177869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N" sz="1400" b="0" i="0" u="none" strike="noStrike" kern="1200" cap="none" spc="0" baseline="0">
                <a:solidFill>
                  <a:srgbClr val="FFFFFF"/>
                </a:solidFill>
                <a:uFillTx/>
                <a:latin typeface="Poppins" pitchFamily="2"/>
                <a:cs typeface="Poppins" pitchFamily="2"/>
              </a:endParaRPr>
            </a:p>
          </p:txBody>
        </p:sp>
      </p:grpSp>
      <p:sp>
        <p:nvSpPr>
          <p:cNvPr id="7" name="Right Triangle 1">
            <a:extLst>
              <a:ext uri="{FF2B5EF4-FFF2-40B4-BE49-F238E27FC236}">
                <a16:creationId xmlns:a16="http://schemas.microsoft.com/office/drawing/2014/main" id="{DA939B87-3A0F-15CF-BF23-00E608EBFD65}"/>
              </a:ext>
            </a:extLst>
          </p:cNvPr>
          <p:cNvSpPr/>
          <p:nvPr/>
        </p:nvSpPr>
        <p:spPr>
          <a:xfrm flipH="1">
            <a:off x="11619436" y="6285430"/>
            <a:ext cx="572569" cy="57256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360"/>
              <a:gd name="f8" fmla="+- 0 0 -180"/>
              <a:gd name="f9" fmla="+- 0 0 -90"/>
              <a:gd name="f10" fmla="abs f3"/>
              <a:gd name="f11" fmla="abs f4"/>
              <a:gd name="f12" fmla="abs f5"/>
              <a:gd name="f13" fmla="val f6"/>
              <a:gd name="f14" fmla="*/ f7 f0 1"/>
              <a:gd name="f15" fmla="*/ f8 f0 1"/>
              <a:gd name="f16" fmla="*/ f9 f0 1"/>
              <a:gd name="f17" fmla="?: f10 f3 1"/>
              <a:gd name="f18" fmla="?: f11 f4 1"/>
              <a:gd name="f19" fmla="?: f12 f5 1"/>
              <a:gd name="f20" fmla="*/ f14 1 f2"/>
              <a:gd name="f21" fmla="*/ f15 1 f2"/>
              <a:gd name="f22" fmla="*/ f16 1 f2"/>
              <a:gd name="f23" fmla="*/ f17 1 21600"/>
              <a:gd name="f24" fmla="*/ f18 1 21600"/>
              <a:gd name="f25" fmla="*/ 21600 f17 1"/>
              <a:gd name="f26" fmla="*/ 21600 f18 1"/>
              <a:gd name="f27" fmla="+- f20 0 f1"/>
              <a:gd name="f28" fmla="+- f21 0 f1"/>
              <a:gd name="f29" fmla="+- f22 0 f1"/>
              <a:gd name="f30" fmla="min f24 f23"/>
              <a:gd name="f31" fmla="*/ f25 1 f19"/>
              <a:gd name="f32" fmla="*/ f26 1 f19"/>
              <a:gd name="f33" fmla="val f31"/>
              <a:gd name="f34" fmla="val f32"/>
              <a:gd name="f35" fmla="*/ f13 f30 1"/>
              <a:gd name="f36" fmla="+- f34 0 f13"/>
              <a:gd name="f37" fmla="+- f33 0 f13"/>
              <a:gd name="f38" fmla="*/ f34 f30 1"/>
              <a:gd name="f39" fmla="*/ f33 f30 1"/>
              <a:gd name="f40" fmla="*/ f36 1 2"/>
              <a:gd name="f41" fmla="*/ f37 1 2"/>
              <a:gd name="f42" fmla="*/ f37 1 12"/>
              <a:gd name="f43" fmla="*/ f36 7 1"/>
              <a:gd name="f44" fmla="*/ f37 7 1"/>
              <a:gd name="f45" fmla="*/ f36 11 1"/>
              <a:gd name="f46" fmla="+- f13 f40 0"/>
              <a:gd name="f47" fmla="+- f13 f41 0"/>
              <a:gd name="f48" fmla="*/ f43 1 12"/>
              <a:gd name="f49" fmla="*/ f44 1 12"/>
              <a:gd name="f50" fmla="*/ f45 1 12"/>
              <a:gd name="f51" fmla="*/ f42 f30 1"/>
              <a:gd name="f52" fmla="*/ f48 f30 1"/>
              <a:gd name="f53" fmla="*/ f49 f30 1"/>
              <a:gd name="f54" fmla="*/ f50 f30 1"/>
              <a:gd name="f55" fmla="*/ f47 f30 1"/>
              <a:gd name="f56" fmla="*/ f46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35" y="f35"/>
              </a:cxn>
              <a:cxn ang="f28">
                <a:pos x="f35" y="f38"/>
              </a:cxn>
              <a:cxn ang="f28">
                <a:pos x="f39" y="f38"/>
              </a:cxn>
              <a:cxn ang="f29">
                <a:pos x="f55" y="f56"/>
              </a:cxn>
            </a:cxnLst>
            <a:rect l="f51" t="f52" r="f53" b="f54"/>
            <a:pathLst>
              <a:path>
                <a:moveTo>
                  <a:pt x="f35" y="f38"/>
                </a:moveTo>
                <a:lnTo>
                  <a:pt x="f35" y="f35"/>
                </a:lnTo>
                <a:lnTo>
                  <a:pt x="f39" y="f38"/>
                </a:lnTo>
                <a:close/>
              </a:path>
            </a:pathLst>
          </a:custGeom>
          <a:solidFill>
            <a:srgbClr val="E77817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27D4793-78DB-F29F-A68F-4EE3AFB14C0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780361" y="6492870"/>
            <a:ext cx="469901" cy="365129"/>
          </a:xfrm>
        </p:spPr>
        <p:txBody>
          <a:bodyPr/>
          <a:lstStyle>
            <a:lvl1pPr>
              <a:defRPr sz="800">
                <a:solidFill>
                  <a:srgbClr val="FFFFFF"/>
                </a:solidFill>
                <a:ea typeface="Lato" pitchFamily="34"/>
              </a:defRPr>
            </a:lvl1pPr>
          </a:lstStyle>
          <a:p>
            <a:pPr lvl="0"/>
            <a:fld id="{87E7401E-7F14-4FAB-A445-849253EEEA48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263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7A183B-EE7E-191C-72D9-B80096D57C2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55601" y="1104896"/>
            <a:ext cx="5664195" cy="5185836"/>
          </a:xfrm>
        </p:spPr>
        <p:txBody>
          <a:bodyPr/>
          <a:lstStyle>
            <a:lvl1pPr marL="444498" indent="-444498">
              <a:buClr>
                <a:srgbClr val="000000"/>
              </a:buClr>
              <a:buFont typeface="Lato" pitchFamily="34"/>
              <a:buChar char="—"/>
              <a:defRPr sz="2000">
                <a:ea typeface="Lato" pitchFamily="34"/>
              </a:defRPr>
            </a:lvl1pPr>
            <a:lvl2pPr marL="812801" indent="-355601">
              <a:buClr>
                <a:srgbClr val="404040"/>
              </a:buClr>
              <a:buFont typeface="Lato" pitchFamily="34"/>
              <a:buChar char="—"/>
              <a:defRPr sz="1800">
                <a:ea typeface="Lato" pitchFamily="34"/>
              </a:defRPr>
            </a:lvl2pPr>
            <a:lvl3pPr marL="1257300" indent="-342900">
              <a:buClr>
                <a:srgbClr val="7F7F7F"/>
              </a:buClr>
              <a:buFont typeface="Lato" pitchFamily="34"/>
              <a:buChar char="—"/>
              <a:defRPr sz="1600">
                <a:ea typeface="Lato" pitchFamily="34"/>
              </a:defRPr>
            </a:lvl3pPr>
            <a:lvl4pPr>
              <a:buClr>
                <a:srgbClr val="7F7F7F"/>
              </a:buClr>
              <a:buFont typeface="Lato" pitchFamily="34"/>
              <a:buChar char="—"/>
              <a:defRPr sz="1400">
                <a:ea typeface="Lato" pitchFamily="34"/>
              </a:defRPr>
            </a:lvl4pPr>
            <a:lvl5pPr>
              <a:buClr>
                <a:srgbClr val="A6A6A6"/>
              </a:buClr>
              <a:buFont typeface="Lato" pitchFamily="34"/>
              <a:buChar char="—"/>
              <a:defRPr sz="1400">
                <a:ea typeface="Lato" pitchFamily="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DB6D7-CBD7-5F6D-6ABF-4C4427201C9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172200" y="1104896"/>
            <a:ext cx="5664195" cy="5185836"/>
          </a:xfrm>
        </p:spPr>
        <p:txBody>
          <a:bodyPr/>
          <a:lstStyle>
            <a:lvl1pPr marL="444498" indent="-444498">
              <a:buClr>
                <a:srgbClr val="000000"/>
              </a:buClr>
              <a:buFont typeface="Lato" pitchFamily="34"/>
              <a:buChar char="—"/>
              <a:defRPr sz="2000">
                <a:ea typeface="Lato" pitchFamily="34"/>
              </a:defRPr>
            </a:lvl1pPr>
            <a:lvl2pPr marL="812801" indent="-355601">
              <a:buClr>
                <a:srgbClr val="404040"/>
              </a:buClr>
              <a:buFont typeface="Lato" pitchFamily="34"/>
              <a:buChar char="—"/>
              <a:defRPr sz="1800">
                <a:ea typeface="Lato" pitchFamily="34"/>
              </a:defRPr>
            </a:lvl2pPr>
            <a:lvl3pPr marL="1257300" indent="-342900">
              <a:buClr>
                <a:srgbClr val="7F7F7F"/>
              </a:buClr>
              <a:buFont typeface="Lato" pitchFamily="34"/>
              <a:buChar char="—"/>
              <a:defRPr sz="1600">
                <a:ea typeface="Lato" pitchFamily="34"/>
              </a:defRPr>
            </a:lvl3pPr>
            <a:lvl4pPr>
              <a:buClr>
                <a:srgbClr val="7F7F7F"/>
              </a:buClr>
              <a:buFont typeface="Lato" pitchFamily="34"/>
              <a:buChar char="—"/>
              <a:defRPr sz="1400">
                <a:ea typeface="Lato" pitchFamily="34"/>
              </a:defRPr>
            </a:lvl4pPr>
            <a:lvl5pPr>
              <a:buClr>
                <a:srgbClr val="A6A6A6"/>
              </a:buClr>
              <a:buFont typeface="Lato" pitchFamily="34"/>
              <a:buChar char="—"/>
              <a:defRPr sz="1400">
                <a:ea typeface="Lato" pitchFamily="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EF8847F-CB85-7C15-76A2-0BB68238A5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5601" y="231772"/>
            <a:ext cx="10583329" cy="57498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>
                <a:solidFill>
                  <a:srgbClr val="366B9D"/>
                </a:solidFill>
                <a:ea typeface="Lato" pitchFamily="34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TextBox 25">
            <a:extLst>
              <a:ext uri="{FF2B5EF4-FFF2-40B4-BE49-F238E27FC236}">
                <a16:creationId xmlns:a16="http://schemas.microsoft.com/office/drawing/2014/main" id="{454FE4E8-0A96-6662-5DD2-55342839950E}"/>
              </a:ext>
            </a:extLst>
          </p:cNvPr>
          <p:cNvSpPr txBox="1"/>
          <p:nvPr/>
        </p:nvSpPr>
        <p:spPr>
          <a:xfrm>
            <a:off x="249804" y="6481386"/>
            <a:ext cx="3921267" cy="261609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100" b="0" i="0" u="none" strike="noStrike" kern="1200" cap="none" spc="0" baseline="0">
                <a:solidFill>
                  <a:srgbClr val="595959"/>
                </a:solidFill>
                <a:uFillTx/>
                <a:latin typeface="Poppins" pitchFamily="2"/>
                <a:ea typeface="Lato" pitchFamily="34"/>
                <a:cs typeface="Poppins" pitchFamily="2"/>
              </a:rPr>
              <a:t>© Copyright : Centre for Computational Technologies</a:t>
            </a:r>
          </a:p>
        </p:txBody>
      </p:sp>
      <p:pic>
        <p:nvPicPr>
          <p:cNvPr id="6" name="Picture 33">
            <a:hlinkClick r:id="rId2"/>
            <a:extLst>
              <a:ext uri="{FF2B5EF4-FFF2-40B4-BE49-F238E27FC236}">
                <a16:creationId xmlns:a16="http://schemas.microsoft.com/office/drawing/2014/main" id="{0713FD85-2E7E-8352-FC4A-400E6D951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0134" y="263456"/>
            <a:ext cx="568802" cy="5045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roup 11">
            <a:extLst>
              <a:ext uri="{FF2B5EF4-FFF2-40B4-BE49-F238E27FC236}">
                <a16:creationId xmlns:a16="http://schemas.microsoft.com/office/drawing/2014/main" id="{1EEE73C8-C75C-D8E0-D032-C3CFEA250A60}"/>
              </a:ext>
            </a:extLst>
          </p:cNvPr>
          <p:cNvGrpSpPr/>
          <p:nvPr/>
        </p:nvGrpSpPr>
        <p:grpSpPr>
          <a:xfrm>
            <a:off x="9616689" y="6481386"/>
            <a:ext cx="1401345" cy="261609"/>
            <a:chOff x="9616689" y="6481386"/>
            <a:chExt cx="1401345" cy="261609"/>
          </a:xfrm>
        </p:grpSpPr>
        <p:sp>
          <p:nvSpPr>
            <p:cNvPr id="8" name="Rectangle 12">
              <a:extLst>
                <a:ext uri="{FF2B5EF4-FFF2-40B4-BE49-F238E27FC236}">
                  <a16:creationId xmlns:a16="http://schemas.microsoft.com/office/drawing/2014/main" id="{F1287D9E-ED28-F6FE-4D80-FA80CD23DAED}"/>
                </a:ext>
              </a:extLst>
            </p:cNvPr>
            <p:cNvSpPr/>
            <p:nvPr/>
          </p:nvSpPr>
          <p:spPr>
            <a:xfrm>
              <a:off x="9616689" y="6481386"/>
              <a:ext cx="1401345" cy="261609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vert="horz" wrap="none" lIns="91440" tIns="45720" rIns="91440" bIns="45720" anchor="t" anchorCtr="0" compatLnSpc="1">
              <a:spAutoFit/>
            </a:bodyPr>
            <a:lstStyle/>
            <a:p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N" sz="1100" b="0" i="0" u="none" strike="noStrike" kern="1200" cap="none" spc="0" baseline="0">
                  <a:solidFill>
                    <a:srgbClr val="166FA9"/>
                  </a:solidFill>
                  <a:uFillTx/>
                  <a:latin typeface="Poppins" pitchFamily="2"/>
                  <a:ea typeface="Lato" pitchFamily="34"/>
                  <a:cs typeface="Poppins" pitchFamily="2"/>
                </a:rPr>
                <a:t>www.cctech.co.in</a:t>
              </a:r>
            </a:p>
          </p:txBody>
        </p:sp>
        <p:sp>
          <p:nvSpPr>
            <p:cNvPr id="9" name="Rectangle 14">
              <a:hlinkClick r:id="rId2"/>
              <a:extLst>
                <a:ext uri="{FF2B5EF4-FFF2-40B4-BE49-F238E27FC236}">
                  <a16:creationId xmlns:a16="http://schemas.microsoft.com/office/drawing/2014/main" id="{E258C7B5-F565-E3D9-9625-161960A16A04}"/>
                </a:ext>
              </a:extLst>
            </p:cNvPr>
            <p:cNvSpPr/>
            <p:nvPr/>
          </p:nvSpPr>
          <p:spPr>
            <a:xfrm>
              <a:off x="9703256" y="6541672"/>
              <a:ext cx="1235637" cy="177869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N" sz="1400" b="0" i="0" u="none" strike="noStrike" kern="1200" cap="none" spc="0" baseline="0">
                <a:solidFill>
                  <a:srgbClr val="FFFFFF"/>
                </a:solidFill>
                <a:uFillTx/>
                <a:latin typeface="Poppins" pitchFamily="2"/>
                <a:cs typeface="Poppins" pitchFamily="2"/>
              </a:endParaRPr>
            </a:p>
          </p:txBody>
        </p:sp>
      </p:grpSp>
      <p:sp>
        <p:nvSpPr>
          <p:cNvPr id="10" name="Right Triangle 1">
            <a:extLst>
              <a:ext uri="{FF2B5EF4-FFF2-40B4-BE49-F238E27FC236}">
                <a16:creationId xmlns:a16="http://schemas.microsoft.com/office/drawing/2014/main" id="{EAD95453-EC15-D4C8-1C14-75C1D89B8629}"/>
              </a:ext>
            </a:extLst>
          </p:cNvPr>
          <p:cNvSpPr/>
          <p:nvPr/>
        </p:nvSpPr>
        <p:spPr>
          <a:xfrm flipH="1">
            <a:off x="11619436" y="6285430"/>
            <a:ext cx="572569" cy="57256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360"/>
              <a:gd name="f8" fmla="+- 0 0 -180"/>
              <a:gd name="f9" fmla="+- 0 0 -90"/>
              <a:gd name="f10" fmla="abs f3"/>
              <a:gd name="f11" fmla="abs f4"/>
              <a:gd name="f12" fmla="abs f5"/>
              <a:gd name="f13" fmla="val f6"/>
              <a:gd name="f14" fmla="*/ f7 f0 1"/>
              <a:gd name="f15" fmla="*/ f8 f0 1"/>
              <a:gd name="f16" fmla="*/ f9 f0 1"/>
              <a:gd name="f17" fmla="?: f10 f3 1"/>
              <a:gd name="f18" fmla="?: f11 f4 1"/>
              <a:gd name="f19" fmla="?: f12 f5 1"/>
              <a:gd name="f20" fmla="*/ f14 1 f2"/>
              <a:gd name="f21" fmla="*/ f15 1 f2"/>
              <a:gd name="f22" fmla="*/ f16 1 f2"/>
              <a:gd name="f23" fmla="*/ f17 1 21600"/>
              <a:gd name="f24" fmla="*/ f18 1 21600"/>
              <a:gd name="f25" fmla="*/ 21600 f17 1"/>
              <a:gd name="f26" fmla="*/ 21600 f18 1"/>
              <a:gd name="f27" fmla="+- f20 0 f1"/>
              <a:gd name="f28" fmla="+- f21 0 f1"/>
              <a:gd name="f29" fmla="+- f22 0 f1"/>
              <a:gd name="f30" fmla="min f24 f23"/>
              <a:gd name="f31" fmla="*/ f25 1 f19"/>
              <a:gd name="f32" fmla="*/ f26 1 f19"/>
              <a:gd name="f33" fmla="val f31"/>
              <a:gd name="f34" fmla="val f32"/>
              <a:gd name="f35" fmla="*/ f13 f30 1"/>
              <a:gd name="f36" fmla="+- f34 0 f13"/>
              <a:gd name="f37" fmla="+- f33 0 f13"/>
              <a:gd name="f38" fmla="*/ f34 f30 1"/>
              <a:gd name="f39" fmla="*/ f33 f30 1"/>
              <a:gd name="f40" fmla="*/ f36 1 2"/>
              <a:gd name="f41" fmla="*/ f37 1 2"/>
              <a:gd name="f42" fmla="*/ f37 1 12"/>
              <a:gd name="f43" fmla="*/ f36 7 1"/>
              <a:gd name="f44" fmla="*/ f37 7 1"/>
              <a:gd name="f45" fmla="*/ f36 11 1"/>
              <a:gd name="f46" fmla="+- f13 f40 0"/>
              <a:gd name="f47" fmla="+- f13 f41 0"/>
              <a:gd name="f48" fmla="*/ f43 1 12"/>
              <a:gd name="f49" fmla="*/ f44 1 12"/>
              <a:gd name="f50" fmla="*/ f45 1 12"/>
              <a:gd name="f51" fmla="*/ f42 f30 1"/>
              <a:gd name="f52" fmla="*/ f48 f30 1"/>
              <a:gd name="f53" fmla="*/ f49 f30 1"/>
              <a:gd name="f54" fmla="*/ f50 f30 1"/>
              <a:gd name="f55" fmla="*/ f47 f30 1"/>
              <a:gd name="f56" fmla="*/ f46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35" y="f35"/>
              </a:cxn>
              <a:cxn ang="f28">
                <a:pos x="f35" y="f38"/>
              </a:cxn>
              <a:cxn ang="f28">
                <a:pos x="f39" y="f38"/>
              </a:cxn>
              <a:cxn ang="f29">
                <a:pos x="f55" y="f56"/>
              </a:cxn>
            </a:cxnLst>
            <a:rect l="f51" t="f52" r="f53" b="f54"/>
            <a:pathLst>
              <a:path>
                <a:moveTo>
                  <a:pt x="f35" y="f38"/>
                </a:moveTo>
                <a:lnTo>
                  <a:pt x="f35" y="f35"/>
                </a:lnTo>
                <a:lnTo>
                  <a:pt x="f39" y="f38"/>
                </a:lnTo>
                <a:close/>
              </a:path>
            </a:pathLst>
          </a:custGeom>
          <a:solidFill>
            <a:srgbClr val="E77817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53D7DB1-BF89-BFAC-0BB0-4FA91CD6A35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780361" y="6492870"/>
            <a:ext cx="469901" cy="365129"/>
          </a:xfrm>
        </p:spPr>
        <p:txBody>
          <a:bodyPr/>
          <a:lstStyle>
            <a:lvl1pPr>
              <a:defRPr sz="800">
                <a:solidFill>
                  <a:srgbClr val="FFFFFF"/>
                </a:solidFill>
                <a:ea typeface="Lato" pitchFamily="34"/>
              </a:defRPr>
            </a:lvl1pPr>
          </a:lstStyle>
          <a:p>
            <a:pPr lvl="0"/>
            <a:fld id="{2DAE87CA-FC9F-42BA-88F6-3DBA60CA57BA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6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CABCBFB-FC90-5D8C-1F0C-5B3F3A25940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5601" y="1116016"/>
            <a:ext cx="5524503" cy="573091"/>
          </a:xfrm>
          <a:solidFill>
            <a:srgbClr val="DEEBF7"/>
          </a:solidFill>
        </p:spPr>
        <p:txBody>
          <a:bodyPr anchor="b"/>
          <a:lstStyle>
            <a:lvl1pPr marL="0" indent="0">
              <a:buNone/>
              <a:defRPr sz="2000" b="1">
                <a:ea typeface="Lato" pitchFamily="34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75E028EB-538A-B86B-0158-838394B6B9B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172200" y="1084258"/>
            <a:ext cx="5524503" cy="595310"/>
          </a:xfrm>
          <a:solidFill>
            <a:srgbClr val="DEEBF7"/>
          </a:solidFill>
        </p:spPr>
        <p:txBody>
          <a:bodyPr anchor="b"/>
          <a:lstStyle>
            <a:lvl1pPr marL="0" indent="0">
              <a:buNone/>
              <a:defRPr sz="2000" b="1">
                <a:ea typeface="Lato" pitchFamily="34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C65EEF-7281-ED3E-9B64-3F8B077454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5601" y="231772"/>
            <a:ext cx="10498665" cy="57498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>
                <a:solidFill>
                  <a:srgbClr val="366B9D"/>
                </a:solidFill>
                <a:ea typeface="Lato" pitchFamily="34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E95EF14-542C-B598-B192-E427581C8CAE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55601" y="1727201"/>
            <a:ext cx="5524503" cy="4535853"/>
          </a:xfrm>
        </p:spPr>
        <p:txBody>
          <a:bodyPr/>
          <a:lstStyle>
            <a:lvl1pPr marL="444498" indent="-444498">
              <a:buClr>
                <a:srgbClr val="000000"/>
              </a:buClr>
              <a:buFont typeface="Lato" pitchFamily="34"/>
              <a:buChar char="—"/>
              <a:defRPr sz="2000">
                <a:ea typeface="Lato" pitchFamily="34"/>
              </a:defRPr>
            </a:lvl1pPr>
            <a:lvl2pPr marL="812801" indent="-355601">
              <a:buClr>
                <a:srgbClr val="404040"/>
              </a:buClr>
              <a:buFont typeface="Lato" pitchFamily="34"/>
              <a:buChar char="—"/>
              <a:defRPr sz="1800">
                <a:ea typeface="Lato" pitchFamily="34"/>
              </a:defRPr>
            </a:lvl2pPr>
            <a:lvl3pPr marL="1257300" indent="-342900">
              <a:buClr>
                <a:srgbClr val="7F7F7F"/>
              </a:buClr>
              <a:buFont typeface="Lato" pitchFamily="34"/>
              <a:buChar char="—"/>
              <a:defRPr sz="1600">
                <a:ea typeface="Lato" pitchFamily="34"/>
              </a:defRPr>
            </a:lvl3pPr>
            <a:lvl4pPr>
              <a:buClr>
                <a:srgbClr val="7F7F7F"/>
              </a:buClr>
              <a:buFont typeface="Lato" pitchFamily="34"/>
              <a:buChar char="—"/>
              <a:defRPr sz="1400">
                <a:ea typeface="Lato" pitchFamily="34"/>
              </a:defRPr>
            </a:lvl4pPr>
            <a:lvl5pPr>
              <a:buClr>
                <a:srgbClr val="A6A6A6"/>
              </a:buClr>
              <a:buFont typeface="Lato" pitchFamily="34"/>
              <a:buChar char="—"/>
              <a:defRPr sz="1400">
                <a:ea typeface="Lato" pitchFamily="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47009F-29A6-D6F3-BD79-E0BA2C5511B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172200" y="1708144"/>
            <a:ext cx="5524503" cy="4557186"/>
          </a:xfrm>
        </p:spPr>
        <p:txBody>
          <a:bodyPr/>
          <a:lstStyle>
            <a:lvl1pPr marL="444498" indent="-444498">
              <a:buClr>
                <a:srgbClr val="000000"/>
              </a:buClr>
              <a:buFont typeface="Lato" pitchFamily="34"/>
              <a:buChar char="—"/>
              <a:defRPr sz="2000">
                <a:ea typeface="Lato" pitchFamily="34"/>
              </a:defRPr>
            </a:lvl1pPr>
            <a:lvl2pPr marL="812801" indent="-355601">
              <a:buClr>
                <a:srgbClr val="404040"/>
              </a:buClr>
              <a:buFont typeface="Lato" pitchFamily="34"/>
              <a:buChar char="—"/>
              <a:defRPr sz="1800">
                <a:ea typeface="Lato" pitchFamily="34"/>
              </a:defRPr>
            </a:lvl2pPr>
            <a:lvl3pPr marL="1257300" indent="-342900">
              <a:buClr>
                <a:srgbClr val="7F7F7F"/>
              </a:buClr>
              <a:buFont typeface="Lato" pitchFamily="34"/>
              <a:buChar char="—"/>
              <a:defRPr sz="1600">
                <a:ea typeface="Lato" pitchFamily="34"/>
              </a:defRPr>
            </a:lvl3pPr>
            <a:lvl4pPr>
              <a:buClr>
                <a:srgbClr val="7F7F7F"/>
              </a:buClr>
              <a:buFont typeface="Lato" pitchFamily="34"/>
              <a:buChar char="—"/>
              <a:defRPr sz="1400">
                <a:ea typeface="Lato" pitchFamily="34"/>
              </a:defRPr>
            </a:lvl4pPr>
            <a:lvl5pPr>
              <a:buClr>
                <a:srgbClr val="A6A6A6"/>
              </a:buClr>
              <a:buFont typeface="Lato" pitchFamily="34"/>
              <a:buChar char="—"/>
              <a:defRPr sz="1400">
                <a:ea typeface="Lato" pitchFamily="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27">
            <a:extLst>
              <a:ext uri="{FF2B5EF4-FFF2-40B4-BE49-F238E27FC236}">
                <a16:creationId xmlns:a16="http://schemas.microsoft.com/office/drawing/2014/main" id="{1634FB2E-CB3A-2859-4710-4AC93AE80149}"/>
              </a:ext>
            </a:extLst>
          </p:cNvPr>
          <p:cNvSpPr txBox="1"/>
          <p:nvPr/>
        </p:nvSpPr>
        <p:spPr>
          <a:xfrm>
            <a:off x="249804" y="6481386"/>
            <a:ext cx="3921267" cy="261609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100" b="0" i="0" u="none" strike="noStrike" kern="1200" cap="none" spc="0" baseline="0">
                <a:solidFill>
                  <a:srgbClr val="595959"/>
                </a:solidFill>
                <a:uFillTx/>
                <a:latin typeface="Poppins" pitchFamily="2"/>
                <a:ea typeface="Lato" pitchFamily="34"/>
                <a:cs typeface="Poppins" pitchFamily="2"/>
              </a:rPr>
              <a:t>© Copyright : Centre for Computational Technologies</a:t>
            </a:r>
          </a:p>
        </p:txBody>
      </p:sp>
      <p:pic>
        <p:nvPicPr>
          <p:cNvPr id="8" name="Picture 35">
            <a:hlinkClick r:id="rId2"/>
            <a:extLst>
              <a:ext uri="{FF2B5EF4-FFF2-40B4-BE49-F238E27FC236}">
                <a16:creationId xmlns:a16="http://schemas.microsoft.com/office/drawing/2014/main" id="{80451B3C-3C03-009C-4B9C-C1AA594E7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0134" y="263456"/>
            <a:ext cx="568802" cy="5045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Group 13">
            <a:extLst>
              <a:ext uri="{FF2B5EF4-FFF2-40B4-BE49-F238E27FC236}">
                <a16:creationId xmlns:a16="http://schemas.microsoft.com/office/drawing/2014/main" id="{1D5F54E5-AD5C-1929-DAEB-31CA78E34282}"/>
              </a:ext>
            </a:extLst>
          </p:cNvPr>
          <p:cNvGrpSpPr/>
          <p:nvPr/>
        </p:nvGrpSpPr>
        <p:grpSpPr>
          <a:xfrm>
            <a:off x="9616689" y="6481386"/>
            <a:ext cx="1401345" cy="261609"/>
            <a:chOff x="9616689" y="6481386"/>
            <a:chExt cx="1401345" cy="261609"/>
          </a:xfrm>
        </p:grpSpPr>
        <p:sp>
          <p:nvSpPr>
            <p:cNvPr id="10" name="Rectangle 14">
              <a:extLst>
                <a:ext uri="{FF2B5EF4-FFF2-40B4-BE49-F238E27FC236}">
                  <a16:creationId xmlns:a16="http://schemas.microsoft.com/office/drawing/2014/main" id="{1ABBE97F-835F-1228-A6E6-E2D555188DDB}"/>
                </a:ext>
              </a:extLst>
            </p:cNvPr>
            <p:cNvSpPr/>
            <p:nvPr/>
          </p:nvSpPr>
          <p:spPr>
            <a:xfrm>
              <a:off x="9616689" y="6481386"/>
              <a:ext cx="1401345" cy="261609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vert="horz" wrap="none" lIns="91440" tIns="45720" rIns="91440" bIns="45720" anchor="t" anchorCtr="0" compatLnSpc="1">
              <a:spAutoFit/>
            </a:bodyPr>
            <a:lstStyle/>
            <a:p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N" sz="1100" b="0" i="0" u="none" strike="noStrike" kern="1200" cap="none" spc="0" baseline="0">
                  <a:solidFill>
                    <a:srgbClr val="166FA9"/>
                  </a:solidFill>
                  <a:uFillTx/>
                  <a:latin typeface="Poppins" pitchFamily="2"/>
                  <a:ea typeface="Lato" pitchFamily="34"/>
                  <a:cs typeface="Poppins" pitchFamily="2"/>
                </a:rPr>
                <a:t>www.cctech.co.in</a:t>
              </a:r>
            </a:p>
          </p:txBody>
        </p:sp>
        <p:sp>
          <p:nvSpPr>
            <p:cNvPr id="11" name="Rectangle 15">
              <a:hlinkClick r:id="rId2"/>
              <a:extLst>
                <a:ext uri="{FF2B5EF4-FFF2-40B4-BE49-F238E27FC236}">
                  <a16:creationId xmlns:a16="http://schemas.microsoft.com/office/drawing/2014/main" id="{BEB08DB7-A5F3-C0CB-64FC-67C2797BE2C8}"/>
                </a:ext>
              </a:extLst>
            </p:cNvPr>
            <p:cNvSpPr/>
            <p:nvPr/>
          </p:nvSpPr>
          <p:spPr>
            <a:xfrm>
              <a:off x="9703256" y="6541672"/>
              <a:ext cx="1235637" cy="177869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N" sz="1400" b="0" i="0" u="none" strike="noStrike" kern="1200" cap="none" spc="0" baseline="0">
                <a:solidFill>
                  <a:srgbClr val="FFFFFF"/>
                </a:solidFill>
                <a:uFillTx/>
                <a:latin typeface="Poppins" pitchFamily="2"/>
                <a:cs typeface="Poppins" pitchFamily="2"/>
              </a:endParaRPr>
            </a:p>
          </p:txBody>
        </p:sp>
      </p:grpSp>
      <p:sp>
        <p:nvSpPr>
          <p:cNvPr id="12" name="Right Triangle 1">
            <a:extLst>
              <a:ext uri="{FF2B5EF4-FFF2-40B4-BE49-F238E27FC236}">
                <a16:creationId xmlns:a16="http://schemas.microsoft.com/office/drawing/2014/main" id="{C30655DB-D77A-6A25-F74A-8A435EBE7607}"/>
              </a:ext>
            </a:extLst>
          </p:cNvPr>
          <p:cNvSpPr/>
          <p:nvPr/>
        </p:nvSpPr>
        <p:spPr>
          <a:xfrm flipH="1">
            <a:off x="11619436" y="6285430"/>
            <a:ext cx="572569" cy="57256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360"/>
              <a:gd name="f8" fmla="+- 0 0 -180"/>
              <a:gd name="f9" fmla="+- 0 0 -90"/>
              <a:gd name="f10" fmla="abs f3"/>
              <a:gd name="f11" fmla="abs f4"/>
              <a:gd name="f12" fmla="abs f5"/>
              <a:gd name="f13" fmla="val f6"/>
              <a:gd name="f14" fmla="*/ f7 f0 1"/>
              <a:gd name="f15" fmla="*/ f8 f0 1"/>
              <a:gd name="f16" fmla="*/ f9 f0 1"/>
              <a:gd name="f17" fmla="?: f10 f3 1"/>
              <a:gd name="f18" fmla="?: f11 f4 1"/>
              <a:gd name="f19" fmla="?: f12 f5 1"/>
              <a:gd name="f20" fmla="*/ f14 1 f2"/>
              <a:gd name="f21" fmla="*/ f15 1 f2"/>
              <a:gd name="f22" fmla="*/ f16 1 f2"/>
              <a:gd name="f23" fmla="*/ f17 1 21600"/>
              <a:gd name="f24" fmla="*/ f18 1 21600"/>
              <a:gd name="f25" fmla="*/ 21600 f17 1"/>
              <a:gd name="f26" fmla="*/ 21600 f18 1"/>
              <a:gd name="f27" fmla="+- f20 0 f1"/>
              <a:gd name="f28" fmla="+- f21 0 f1"/>
              <a:gd name="f29" fmla="+- f22 0 f1"/>
              <a:gd name="f30" fmla="min f24 f23"/>
              <a:gd name="f31" fmla="*/ f25 1 f19"/>
              <a:gd name="f32" fmla="*/ f26 1 f19"/>
              <a:gd name="f33" fmla="val f31"/>
              <a:gd name="f34" fmla="val f32"/>
              <a:gd name="f35" fmla="*/ f13 f30 1"/>
              <a:gd name="f36" fmla="+- f34 0 f13"/>
              <a:gd name="f37" fmla="+- f33 0 f13"/>
              <a:gd name="f38" fmla="*/ f34 f30 1"/>
              <a:gd name="f39" fmla="*/ f33 f30 1"/>
              <a:gd name="f40" fmla="*/ f36 1 2"/>
              <a:gd name="f41" fmla="*/ f37 1 2"/>
              <a:gd name="f42" fmla="*/ f37 1 12"/>
              <a:gd name="f43" fmla="*/ f36 7 1"/>
              <a:gd name="f44" fmla="*/ f37 7 1"/>
              <a:gd name="f45" fmla="*/ f36 11 1"/>
              <a:gd name="f46" fmla="+- f13 f40 0"/>
              <a:gd name="f47" fmla="+- f13 f41 0"/>
              <a:gd name="f48" fmla="*/ f43 1 12"/>
              <a:gd name="f49" fmla="*/ f44 1 12"/>
              <a:gd name="f50" fmla="*/ f45 1 12"/>
              <a:gd name="f51" fmla="*/ f42 f30 1"/>
              <a:gd name="f52" fmla="*/ f48 f30 1"/>
              <a:gd name="f53" fmla="*/ f49 f30 1"/>
              <a:gd name="f54" fmla="*/ f50 f30 1"/>
              <a:gd name="f55" fmla="*/ f47 f30 1"/>
              <a:gd name="f56" fmla="*/ f46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35" y="f35"/>
              </a:cxn>
              <a:cxn ang="f28">
                <a:pos x="f35" y="f38"/>
              </a:cxn>
              <a:cxn ang="f28">
                <a:pos x="f39" y="f38"/>
              </a:cxn>
              <a:cxn ang="f29">
                <a:pos x="f55" y="f56"/>
              </a:cxn>
            </a:cxnLst>
            <a:rect l="f51" t="f52" r="f53" b="f54"/>
            <a:pathLst>
              <a:path>
                <a:moveTo>
                  <a:pt x="f35" y="f38"/>
                </a:moveTo>
                <a:lnTo>
                  <a:pt x="f35" y="f35"/>
                </a:lnTo>
                <a:lnTo>
                  <a:pt x="f39" y="f38"/>
                </a:lnTo>
                <a:close/>
              </a:path>
            </a:pathLst>
          </a:custGeom>
          <a:solidFill>
            <a:srgbClr val="E77817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70B5CFE-F8B9-9179-1AF2-FC496945492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780361" y="6492870"/>
            <a:ext cx="469901" cy="365129"/>
          </a:xfrm>
        </p:spPr>
        <p:txBody>
          <a:bodyPr/>
          <a:lstStyle>
            <a:lvl1pPr>
              <a:defRPr sz="800">
                <a:solidFill>
                  <a:srgbClr val="FFFFFF"/>
                </a:solidFill>
                <a:ea typeface="Lato" pitchFamily="34"/>
              </a:defRPr>
            </a:lvl1pPr>
          </a:lstStyle>
          <a:p>
            <a:pPr lvl="0"/>
            <a:fld id="{C14D9201-A124-434A-AB38-A8FA1F7255FC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95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0794B-3080-FCC2-48C4-49AEB6AFBD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5601" y="1084258"/>
            <a:ext cx="4073523" cy="973131"/>
          </a:xfrm>
          <a:solidFill>
            <a:srgbClr val="DEEBF7"/>
          </a:solidFill>
        </p:spPr>
        <p:txBody>
          <a:bodyPr anchor="b"/>
          <a:lstStyle>
            <a:lvl1pPr>
              <a:defRPr sz="2400">
                <a:ea typeface="Lato" pitchFamily="34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527E3961-2A86-2F0A-FD25-49D5CB5F951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5601" y="2057400"/>
            <a:ext cx="4073523" cy="4241801"/>
          </a:xfrm>
        </p:spPr>
        <p:txBody>
          <a:bodyPr/>
          <a:lstStyle>
            <a:lvl1pPr marL="0" indent="0">
              <a:buNone/>
              <a:defRPr sz="1400">
                <a:ea typeface="Lato" pitchFamily="34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60833D6-CB01-9B49-7311-1EE6BFC539BA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83184" y="1104896"/>
            <a:ext cx="6513508" cy="5194304"/>
          </a:xfrm>
        </p:spPr>
        <p:txBody>
          <a:bodyPr/>
          <a:lstStyle>
            <a:lvl1pPr marL="444498" indent="-444498">
              <a:buClr>
                <a:srgbClr val="000000"/>
              </a:buClr>
              <a:buFont typeface="Lato" pitchFamily="34"/>
              <a:buChar char="—"/>
              <a:defRPr sz="2000">
                <a:ea typeface="Lato" pitchFamily="34"/>
              </a:defRPr>
            </a:lvl1pPr>
            <a:lvl2pPr marL="812801" indent="-355601">
              <a:buClr>
                <a:srgbClr val="404040"/>
              </a:buClr>
              <a:buFont typeface="Lato" pitchFamily="34"/>
              <a:buChar char="—"/>
              <a:defRPr sz="1800">
                <a:ea typeface="Lato" pitchFamily="34"/>
              </a:defRPr>
            </a:lvl2pPr>
            <a:lvl3pPr marL="1257300" indent="-342900">
              <a:buClr>
                <a:srgbClr val="7F7F7F"/>
              </a:buClr>
              <a:buFont typeface="Lato" pitchFamily="34"/>
              <a:buChar char="—"/>
              <a:defRPr sz="1600">
                <a:ea typeface="Lato" pitchFamily="34"/>
              </a:defRPr>
            </a:lvl3pPr>
            <a:lvl4pPr>
              <a:buClr>
                <a:srgbClr val="7F7F7F"/>
              </a:buClr>
              <a:buFont typeface="Lato" pitchFamily="34"/>
              <a:buChar char="—"/>
              <a:defRPr sz="1400">
                <a:ea typeface="Lato" pitchFamily="34"/>
              </a:defRPr>
            </a:lvl4pPr>
            <a:lvl5pPr>
              <a:buClr>
                <a:srgbClr val="A6A6A6"/>
              </a:buClr>
              <a:buFont typeface="Lato" pitchFamily="34"/>
              <a:buChar char="—"/>
              <a:defRPr sz="1400">
                <a:ea typeface="Lato" pitchFamily="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CD7D33-630D-97D7-3CD9-99BDF05991E9}"/>
              </a:ext>
            </a:extLst>
          </p:cNvPr>
          <p:cNvSpPr txBox="1"/>
          <p:nvPr/>
        </p:nvSpPr>
        <p:spPr>
          <a:xfrm>
            <a:off x="355601" y="231772"/>
            <a:ext cx="10625666" cy="57498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366B9D"/>
                </a:solidFill>
                <a:uFillTx/>
                <a:latin typeface="Poppins" pitchFamily="2"/>
                <a:ea typeface="Lato" pitchFamily="34"/>
                <a:cs typeface="Poppins" pitchFamily="2"/>
              </a:rPr>
              <a:t>CLICK TO EDIT MASTER TITLE STYLE</a:t>
            </a:r>
            <a:endParaRPr lang="en-IN" sz="2000" b="0" i="0" u="none" strike="noStrike" kern="1200" cap="none" spc="0" baseline="0">
              <a:solidFill>
                <a:srgbClr val="366B9D"/>
              </a:solidFill>
              <a:uFillTx/>
              <a:latin typeface="Poppins" pitchFamily="2"/>
              <a:ea typeface="Lato" pitchFamily="34"/>
              <a:cs typeface="Poppins" pitchFamily="2"/>
            </a:endParaRPr>
          </a:p>
        </p:txBody>
      </p:sp>
      <p:sp>
        <p:nvSpPr>
          <p:cNvPr id="6" name="TextBox 24">
            <a:extLst>
              <a:ext uri="{FF2B5EF4-FFF2-40B4-BE49-F238E27FC236}">
                <a16:creationId xmlns:a16="http://schemas.microsoft.com/office/drawing/2014/main" id="{76C4D263-0C6B-FAD1-563E-9FA765154E43}"/>
              </a:ext>
            </a:extLst>
          </p:cNvPr>
          <p:cNvSpPr txBox="1"/>
          <p:nvPr/>
        </p:nvSpPr>
        <p:spPr>
          <a:xfrm>
            <a:off x="249804" y="6481386"/>
            <a:ext cx="3921267" cy="261609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100" b="0" i="0" u="none" strike="noStrike" kern="1200" cap="none" spc="0" baseline="0">
                <a:solidFill>
                  <a:srgbClr val="595959"/>
                </a:solidFill>
                <a:uFillTx/>
                <a:latin typeface="Poppins" pitchFamily="2"/>
                <a:ea typeface="Lato" pitchFamily="34"/>
                <a:cs typeface="Poppins" pitchFamily="2"/>
              </a:rPr>
              <a:t>© Copyright : Centre for Computational Technologies</a:t>
            </a:r>
          </a:p>
        </p:txBody>
      </p:sp>
      <p:pic>
        <p:nvPicPr>
          <p:cNvPr id="7" name="Picture 36">
            <a:hlinkClick r:id="rId2"/>
            <a:extLst>
              <a:ext uri="{FF2B5EF4-FFF2-40B4-BE49-F238E27FC236}">
                <a16:creationId xmlns:a16="http://schemas.microsoft.com/office/drawing/2014/main" id="{A676BE49-B746-0C9C-DCF5-5ACE6623C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0134" y="263456"/>
            <a:ext cx="568802" cy="5045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Group 12">
            <a:extLst>
              <a:ext uri="{FF2B5EF4-FFF2-40B4-BE49-F238E27FC236}">
                <a16:creationId xmlns:a16="http://schemas.microsoft.com/office/drawing/2014/main" id="{F65C954A-D291-288A-BF2A-E317F64085B0}"/>
              </a:ext>
            </a:extLst>
          </p:cNvPr>
          <p:cNvGrpSpPr/>
          <p:nvPr/>
        </p:nvGrpSpPr>
        <p:grpSpPr>
          <a:xfrm>
            <a:off x="9616689" y="6481386"/>
            <a:ext cx="1401345" cy="261609"/>
            <a:chOff x="9616689" y="6481386"/>
            <a:chExt cx="1401345" cy="261609"/>
          </a:xfrm>
        </p:grpSpPr>
        <p:sp>
          <p:nvSpPr>
            <p:cNvPr id="9" name="Rectangle 13">
              <a:extLst>
                <a:ext uri="{FF2B5EF4-FFF2-40B4-BE49-F238E27FC236}">
                  <a16:creationId xmlns:a16="http://schemas.microsoft.com/office/drawing/2014/main" id="{23412D6B-1FF4-6FFD-138F-C8DBD04FA9D3}"/>
                </a:ext>
              </a:extLst>
            </p:cNvPr>
            <p:cNvSpPr/>
            <p:nvPr/>
          </p:nvSpPr>
          <p:spPr>
            <a:xfrm>
              <a:off x="9616689" y="6481386"/>
              <a:ext cx="1401345" cy="261609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vert="horz" wrap="none" lIns="91440" tIns="45720" rIns="91440" bIns="45720" anchor="t" anchorCtr="0" compatLnSpc="1">
              <a:spAutoFit/>
            </a:bodyPr>
            <a:lstStyle/>
            <a:p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N" sz="1100" b="0" i="0" u="none" strike="noStrike" kern="1200" cap="none" spc="0" baseline="0">
                  <a:solidFill>
                    <a:srgbClr val="166FA9"/>
                  </a:solidFill>
                  <a:uFillTx/>
                  <a:latin typeface="Poppins" pitchFamily="2"/>
                  <a:ea typeface="Lato" pitchFamily="34"/>
                  <a:cs typeface="Poppins" pitchFamily="2"/>
                </a:rPr>
                <a:t>www.cctech.co.in</a:t>
              </a:r>
            </a:p>
          </p:txBody>
        </p:sp>
        <p:sp>
          <p:nvSpPr>
            <p:cNvPr id="10" name="Rectangle 15">
              <a:hlinkClick r:id="rId2"/>
              <a:extLst>
                <a:ext uri="{FF2B5EF4-FFF2-40B4-BE49-F238E27FC236}">
                  <a16:creationId xmlns:a16="http://schemas.microsoft.com/office/drawing/2014/main" id="{BBCB9519-648A-883E-8D60-DC87EBDD1E86}"/>
                </a:ext>
              </a:extLst>
            </p:cNvPr>
            <p:cNvSpPr/>
            <p:nvPr/>
          </p:nvSpPr>
          <p:spPr>
            <a:xfrm>
              <a:off x="9703256" y="6541672"/>
              <a:ext cx="1235637" cy="177869"/>
            </a:xfrm>
            <a:prstGeom prst="rect">
              <a:avLst/>
            </a:prstGeom>
            <a:noFill/>
            <a:ln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N" sz="1400" b="0" i="0" u="none" strike="noStrike" kern="1200" cap="none" spc="0" baseline="0">
                <a:solidFill>
                  <a:srgbClr val="FFFFFF"/>
                </a:solidFill>
                <a:uFillTx/>
                <a:latin typeface="Poppins" pitchFamily="2"/>
                <a:cs typeface="Poppins" pitchFamily="2"/>
              </a:endParaRPr>
            </a:p>
          </p:txBody>
        </p:sp>
      </p:grpSp>
      <p:sp>
        <p:nvSpPr>
          <p:cNvPr id="11" name="Right Triangle 2">
            <a:extLst>
              <a:ext uri="{FF2B5EF4-FFF2-40B4-BE49-F238E27FC236}">
                <a16:creationId xmlns:a16="http://schemas.microsoft.com/office/drawing/2014/main" id="{ED35E859-C226-0ED8-AD15-35C85426CDC9}"/>
              </a:ext>
            </a:extLst>
          </p:cNvPr>
          <p:cNvSpPr/>
          <p:nvPr/>
        </p:nvSpPr>
        <p:spPr>
          <a:xfrm flipH="1">
            <a:off x="11619436" y="6285430"/>
            <a:ext cx="572569" cy="57256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360"/>
              <a:gd name="f8" fmla="+- 0 0 -180"/>
              <a:gd name="f9" fmla="+- 0 0 -90"/>
              <a:gd name="f10" fmla="abs f3"/>
              <a:gd name="f11" fmla="abs f4"/>
              <a:gd name="f12" fmla="abs f5"/>
              <a:gd name="f13" fmla="val f6"/>
              <a:gd name="f14" fmla="*/ f7 f0 1"/>
              <a:gd name="f15" fmla="*/ f8 f0 1"/>
              <a:gd name="f16" fmla="*/ f9 f0 1"/>
              <a:gd name="f17" fmla="?: f10 f3 1"/>
              <a:gd name="f18" fmla="?: f11 f4 1"/>
              <a:gd name="f19" fmla="?: f12 f5 1"/>
              <a:gd name="f20" fmla="*/ f14 1 f2"/>
              <a:gd name="f21" fmla="*/ f15 1 f2"/>
              <a:gd name="f22" fmla="*/ f16 1 f2"/>
              <a:gd name="f23" fmla="*/ f17 1 21600"/>
              <a:gd name="f24" fmla="*/ f18 1 21600"/>
              <a:gd name="f25" fmla="*/ 21600 f17 1"/>
              <a:gd name="f26" fmla="*/ 21600 f18 1"/>
              <a:gd name="f27" fmla="+- f20 0 f1"/>
              <a:gd name="f28" fmla="+- f21 0 f1"/>
              <a:gd name="f29" fmla="+- f22 0 f1"/>
              <a:gd name="f30" fmla="min f24 f23"/>
              <a:gd name="f31" fmla="*/ f25 1 f19"/>
              <a:gd name="f32" fmla="*/ f26 1 f19"/>
              <a:gd name="f33" fmla="val f31"/>
              <a:gd name="f34" fmla="val f32"/>
              <a:gd name="f35" fmla="*/ f13 f30 1"/>
              <a:gd name="f36" fmla="+- f34 0 f13"/>
              <a:gd name="f37" fmla="+- f33 0 f13"/>
              <a:gd name="f38" fmla="*/ f34 f30 1"/>
              <a:gd name="f39" fmla="*/ f33 f30 1"/>
              <a:gd name="f40" fmla="*/ f36 1 2"/>
              <a:gd name="f41" fmla="*/ f37 1 2"/>
              <a:gd name="f42" fmla="*/ f37 1 12"/>
              <a:gd name="f43" fmla="*/ f36 7 1"/>
              <a:gd name="f44" fmla="*/ f37 7 1"/>
              <a:gd name="f45" fmla="*/ f36 11 1"/>
              <a:gd name="f46" fmla="+- f13 f40 0"/>
              <a:gd name="f47" fmla="+- f13 f41 0"/>
              <a:gd name="f48" fmla="*/ f43 1 12"/>
              <a:gd name="f49" fmla="*/ f44 1 12"/>
              <a:gd name="f50" fmla="*/ f45 1 12"/>
              <a:gd name="f51" fmla="*/ f42 f30 1"/>
              <a:gd name="f52" fmla="*/ f48 f30 1"/>
              <a:gd name="f53" fmla="*/ f49 f30 1"/>
              <a:gd name="f54" fmla="*/ f50 f30 1"/>
              <a:gd name="f55" fmla="*/ f47 f30 1"/>
              <a:gd name="f56" fmla="*/ f46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35" y="f35"/>
              </a:cxn>
              <a:cxn ang="f28">
                <a:pos x="f35" y="f38"/>
              </a:cxn>
              <a:cxn ang="f28">
                <a:pos x="f39" y="f38"/>
              </a:cxn>
              <a:cxn ang="f29">
                <a:pos x="f55" y="f56"/>
              </a:cxn>
            </a:cxnLst>
            <a:rect l="f51" t="f52" r="f53" b="f54"/>
            <a:pathLst>
              <a:path>
                <a:moveTo>
                  <a:pt x="f35" y="f38"/>
                </a:moveTo>
                <a:lnTo>
                  <a:pt x="f35" y="f35"/>
                </a:lnTo>
                <a:lnTo>
                  <a:pt x="f39" y="f38"/>
                </a:lnTo>
                <a:close/>
              </a:path>
            </a:pathLst>
          </a:custGeom>
          <a:solidFill>
            <a:srgbClr val="E77817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63B9D6D-0C99-B3E4-BC8E-C1CF31D26D8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780361" y="6492870"/>
            <a:ext cx="469901" cy="365129"/>
          </a:xfrm>
        </p:spPr>
        <p:txBody>
          <a:bodyPr/>
          <a:lstStyle>
            <a:lvl1pPr>
              <a:defRPr sz="800">
                <a:solidFill>
                  <a:srgbClr val="FFFFFF"/>
                </a:solidFill>
                <a:ea typeface="Lato" pitchFamily="34"/>
              </a:defRPr>
            </a:lvl1pPr>
          </a:lstStyle>
          <a:p>
            <a:pPr lvl="0"/>
            <a:fld id="{4D49A77B-E948-44D6-B53A-160CFBE95AB2}" type="slidenum"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906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8A249C71-7B59-081A-4F2A-00E88E95F503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5183184" y="1089022"/>
            <a:ext cx="6513508" cy="4656472"/>
          </a:xfrm>
        </p:spPr>
        <p:txBody>
          <a:bodyPr/>
          <a:lstStyle>
            <a:lvl1pPr marL="0" indent="0">
              <a:buNone/>
              <a:defRPr lang="en-IN" sz="2800"/>
            </a:lvl1pPr>
          </a:lstStyle>
          <a:p>
            <a:pPr lvl="0"/>
            <a:endParaRPr lang="en-IN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6F64246-0F83-8CA4-9D9F-90A6641DB0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5601" y="1084258"/>
            <a:ext cx="4073523" cy="973131"/>
          </a:xfrm>
          <a:solidFill>
            <a:srgbClr val="DEEBF7"/>
          </a:solidFill>
        </p:spPr>
        <p:txBody>
          <a:bodyPr anchor="b"/>
          <a:lstStyle>
            <a:lvl1pPr>
              <a:defRPr sz="2400">
                <a:ea typeface="Lato" pitchFamily="34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05C07-6EC6-5F39-D60D-78C0F21A110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5601" y="2057400"/>
            <a:ext cx="4073523" cy="3706712"/>
          </a:xfrm>
        </p:spPr>
        <p:txBody>
          <a:bodyPr/>
          <a:lstStyle>
            <a:lvl1pPr marL="0" indent="0">
              <a:buNone/>
              <a:defRPr sz="1400">
                <a:ea typeface="Lato" pitchFamily="34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29CA396-EFA4-EDA6-9D20-D8BBE71DCC35}"/>
              </a:ext>
            </a:extLst>
          </p:cNvPr>
          <p:cNvSpPr txBox="1"/>
          <p:nvPr/>
        </p:nvSpPr>
        <p:spPr>
          <a:xfrm>
            <a:off x="355601" y="231772"/>
            <a:ext cx="11341102" cy="57498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366B9D"/>
                </a:solidFill>
                <a:uFillTx/>
                <a:latin typeface="Poppins" pitchFamily="2"/>
                <a:ea typeface="Lato" pitchFamily="34"/>
                <a:cs typeface="Poppins" pitchFamily="2"/>
              </a:rPr>
              <a:t>CLICK TO EDIT MASTER TITLE STYLE</a:t>
            </a:r>
            <a:endParaRPr lang="en-IN" sz="2000" b="0" i="0" u="none" strike="noStrike" kern="1200" cap="none" spc="0" baseline="0">
              <a:solidFill>
                <a:srgbClr val="366B9D"/>
              </a:solidFill>
              <a:uFillTx/>
              <a:latin typeface="Poppins" pitchFamily="2"/>
              <a:ea typeface="Lato" pitchFamily="34"/>
              <a:cs typeface="Poppins" pitchFamily="2"/>
            </a:endParaRPr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07C21624-6E6B-010A-2A06-2916E486E88C}"/>
              </a:ext>
            </a:extLst>
          </p:cNvPr>
          <p:cNvSpPr/>
          <p:nvPr/>
        </p:nvSpPr>
        <p:spPr>
          <a:xfrm>
            <a:off x="0" y="5939366"/>
            <a:ext cx="12191996" cy="918633"/>
          </a:xfrm>
          <a:prstGeom prst="rect">
            <a:avLst/>
          </a:prstGeom>
          <a:solidFill>
            <a:srgbClr val="EEEEF0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600" b="0" i="0" u="none" strike="noStrike" kern="1200" cap="none" spc="0" baseline="0">
              <a:solidFill>
                <a:srgbClr val="FFFFFF"/>
              </a:solidFill>
              <a:uFillTx/>
              <a:latin typeface="Poppins" pitchFamily="2"/>
              <a:cs typeface="Poppins" pitchFamily="2"/>
            </a:endParaRPr>
          </a:p>
        </p:txBody>
      </p:sp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4BC1F5FD-A9A7-5271-9020-901E9E66DFE4}"/>
              </a:ext>
            </a:extLst>
          </p:cNvPr>
          <p:cNvCxnSpPr/>
          <p:nvPr/>
        </p:nvCxnSpPr>
        <p:spPr>
          <a:xfrm>
            <a:off x="-12701" y="5939366"/>
            <a:ext cx="12204697" cy="0"/>
          </a:xfrm>
          <a:prstGeom prst="straightConnector1">
            <a:avLst/>
          </a:prstGeom>
          <a:noFill/>
          <a:ln w="6345" cap="flat">
            <a:solidFill>
              <a:srgbClr val="A6A6A6"/>
            </a:solidFill>
            <a:prstDash val="solid"/>
            <a:miter/>
          </a:ln>
        </p:spPr>
      </p:cxn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048398B-FD0D-07C2-B29A-CF7BA54F17E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5861047" y="6211894"/>
            <a:ext cx="469901" cy="365129"/>
          </a:xfrm>
        </p:spPr>
        <p:txBody>
          <a:bodyPr/>
          <a:lstStyle>
            <a:lvl1pPr>
              <a:defRPr sz="1050">
                <a:ea typeface="Lato" pitchFamily="34"/>
              </a:defRPr>
            </a:lvl1pPr>
          </a:lstStyle>
          <a:p>
            <a:pPr lvl="0"/>
            <a:fld id="{B442FFF8-220D-4D94-881E-0BC7ABCB6259}" type="slidenum">
              <a:t>‹#›</a:t>
            </a:fld>
            <a:endParaRPr lang="en-IN"/>
          </a:p>
        </p:txBody>
      </p:sp>
      <p:pic>
        <p:nvPicPr>
          <p:cNvPr id="9" name="Picture 27">
            <a:hlinkClick r:id="rId2"/>
            <a:extLst>
              <a:ext uri="{FF2B5EF4-FFF2-40B4-BE49-F238E27FC236}">
                <a16:creationId xmlns:a16="http://schemas.microsoft.com/office/drawing/2014/main" id="{F92A3C9B-E000-1FB4-440F-53DD541CA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59" y="6146733"/>
            <a:ext cx="568802" cy="50458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12">
            <a:extLst>
              <a:ext uri="{FF2B5EF4-FFF2-40B4-BE49-F238E27FC236}">
                <a16:creationId xmlns:a16="http://schemas.microsoft.com/office/drawing/2014/main" id="{2387A7ED-4FC0-E9EA-1820-16A071F0EA91}"/>
              </a:ext>
            </a:extLst>
          </p:cNvPr>
          <p:cNvSpPr txBox="1"/>
          <p:nvPr/>
        </p:nvSpPr>
        <p:spPr>
          <a:xfrm>
            <a:off x="7889104" y="6193304"/>
            <a:ext cx="3921267" cy="261609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100" b="0" i="0" u="none" strike="noStrike" kern="1200" cap="none" spc="0" baseline="0">
                <a:solidFill>
                  <a:srgbClr val="595959"/>
                </a:solidFill>
                <a:uFillTx/>
                <a:latin typeface="Poppins" pitchFamily="2"/>
                <a:ea typeface="Lato" pitchFamily="34"/>
                <a:cs typeface="Poppins" pitchFamily="2"/>
              </a:rPr>
              <a:t>© Copyright : Centre for Computational Technologies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F85BB26C-DF7C-ACF8-8694-76A2B11A1A7C}"/>
              </a:ext>
            </a:extLst>
          </p:cNvPr>
          <p:cNvSpPr/>
          <p:nvPr/>
        </p:nvSpPr>
        <p:spPr>
          <a:xfrm>
            <a:off x="10425961" y="6385511"/>
            <a:ext cx="1401345" cy="26160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100" b="0" i="0" u="none" strike="noStrike" kern="1200" cap="none" spc="0" baseline="0">
                <a:solidFill>
                  <a:srgbClr val="166FA9"/>
                </a:solidFill>
                <a:uFillTx/>
                <a:latin typeface="Poppins" pitchFamily="2"/>
                <a:ea typeface="Lato" pitchFamily="34"/>
                <a:cs typeface="Poppins" pitchFamily="2"/>
              </a:rPr>
              <a:t>www.cctech.co.in</a:t>
            </a:r>
          </a:p>
        </p:txBody>
      </p:sp>
      <p:sp>
        <p:nvSpPr>
          <p:cNvPr id="12" name="Rectangle 14">
            <a:hlinkClick r:id="rId2"/>
            <a:extLst>
              <a:ext uri="{FF2B5EF4-FFF2-40B4-BE49-F238E27FC236}">
                <a16:creationId xmlns:a16="http://schemas.microsoft.com/office/drawing/2014/main" id="{EE6081E1-5C53-6551-B906-91227638E126}"/>
              </a:ext>
            </a:extLst>
          </p:cNvPr>
          <p:cNvSpPr/>
          <p:nvPr/>
        </p:nvSpPr>
        <p:spPr>
          <a:xfrm>
            <a:off x="10512527" y="6445797"/>
            <a:ext cx="1235637" cy="17786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400" b="0" i="0" u="none" strike="noStrike" kern="1200" cap="none" spc="0" baseline="0">
              <a:solidFill>
                <a:srgbClr val="FFFFFF"/>
              </a:solidFill>
              <a:uFillTx/>
              <a:latin typeface="Poppins" pitchFamily="2"/>
              <a:cs typeface="Poppins" pitchFamily="2"/>
            </a:endParaRPr>
          </a:p>
        </p:txBody>
      </p:sp>
      <p:sp>
        <p:nvSpPr>
          <p:cNvPr id="13" name="Right Triangle 2">
            <a:extLst>
              <a:ext uri="{FF2B5EF4-FFF2-40B4-BE49-F238E27FC236}">
                <a16:creationId xmlns:a16="http://schemas.microsoft.com/office/drawing/2014/main" id="{361927F1-39CA-37C8-7EC9-6A7B4B74BEF3}"/>
              </a:ext>
            </a:extLst>
          </p:cNvPr>
          <p:cNvSpPr/>
          <p:nvPr/>
        </p:nvSpPr>
        <p:spPr>
          <a:xfrm flipH="1" flipV="1">
            <a:off x="11619436" y="0"/>
            <a:ext cx="572569" cy="57256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360"/>
              <a:gd name="f8" fmla="+- 0 0 -180"/>
              <a:gd name="f9" fmla="+- 0 0 -90"/>
              <a:gd name="f10" fmla="abs f3"/>
              <a:gd name="f11" fmla="abs f4"/>
              <a:gd name="f12" fmla="abs f5"/>
              <a:gd name="f13" fmla="val f6"/>
              <a:gd name="f14" fmla="*/ f7 f0 1"/>
              <a:gd name="f15" fmla="*/ f8 f0 1"/>
              <a:gd name="f16" fmla="*/ f9 f0 1"/>
              <a:gd name="f17" fmla="?: f10 f3 1"/>
              <a:gd name="f18" fmla="?: f11 f4 1"/>
              <a:gd name="f19" fmla="?: f12 f5 1"/>
              <a:gd name="f20" fmla="*/ f14 1 f2"/>
              <a:gd name="f21" fmla="*/ f15 1 f2"/>
              <a:gd name="f22" fmla="*/ f16 1 f2"/>
              <a:gd name="f23" fmla="*/ f17 1 21600"/>
              <a:gd name="f24" fmla="*/ f18 1 21600"/>
              <a:gd name="f25" fmla="*/ 21600 f17 1"/>
              <a:gd name="f26" fmla="*/ 21600 f18 1"/>
              <a:gd name="f27" fmla="+- f20 0 f1"/>
              <a:gd name="f28" fmla="+- f21 0 f1"/>
              <a:gd name="f29" fmla="+- f22 0 f1"/>
              <a:gd name="f30" fmla="min f24 f23"/>
              <a:gd name="f31" fmla="*/ f25 1 f19"/>
              <a:gd name="f32" fmla="*/ f26 1 f19"/>
              <a:gd name="f33" fmla="val f31"/>
              <a:gd name="f34" fmla="val f32"/>
              <a:gd name="f35" fmla="*/ f13 f30 1"/>
              <a:gd name="f36" fmla="+- f34 0 f13"/>
              <a:gd name="f37" fmla="+- f33 0 f13"/>
              <a:gd name="f38" fmla="*/ f34 f30 1"/>
              <a:gd name="f39" fmla="*/ f33 f30 1"/>
              <a:gd name="f40" fmla="*/ f36 1 2"/>
              <a:gd name="f41" fmla="*/ f37 1 2"/>
              <a:gd name="f42" fmla="*/ f37 1 12"/>
              <a:gd name="f43" fmla="*/ f36 7 1"/>
              <a:gd name="f44" fmla="*/ f37 7 1"/>
              <a:gd name="f45" fmla="*/ f36 11 1"/>
              <a:gd name="f46" fmla="+- f13 f40 0"/>
              <a:gd name="f47" fmla="+- f13 f41 0"/>
              <a:gd name="f48" fmla="*/ f43 1 12"/>
              <a:gd name="f49" fmla="*/ f44 1 12"/>
              <a:gd name="f50" fmla="*/ f45 1 12"/>
              <a:gd name="f51" fmla="*/ f42 f30 1"/>
              <a:gd name="f52" fmla="*/ f48 f30 1"/>
              <a:gd name="f53" fmla="*/ f49 f30 1"/>
              <a:gd name="f54" fmla="*/ f50 f30 1"/>
              <a:gd name="f55" fmla="*/ f47 f30 1"/>
              <a:gd name="f56" fmla="*/ f46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35" y="f35"/>
              </a:cxn>
              <a:cxn ang="f28">
                <a:pos x="f35" y="f38"/>
              </a:cxn>
              <a:cxn ang="f28">
                <a:pos x="f39" y="f38"/>
              </a:cxn>
              <a:cxn ang="f29">
                <a:pos x="f55" y="f56"/>
              </a:cxn>
            </a:cxnLst>
            <a:rect l="f51" t="f52" r="f53" b="f54"/>
            <a:pathLst>
              <a:path>
                <a:moveTo>
                  <a:pt x="f35" y="f38"/>
                </a:moveTo>
                <a:lnTo>
                  <a:pt x="f35" y="f35"/>
                </a:lnTo>
                <a:lnTo>
                  <a:pt x="f39" y="f38"/>
                </a:lnTo>
                <a:close/>
              </a:path>
            </a:pathLst>
          </a:custGeom>
          <a:solidFill>
            <a:srgbClr val="E77817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6249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44F3E-5843-8B76-0DA7-AD603154A8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5601" y="231772"/>
            <a:ext cx="11341102" cy="57498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>
                <a:solidFill>
                  <a:srgbClr val="366B9D"/>
                </a:solidFill>
                <a:ea typeface="Lato" pitchFamily="34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C8B20-9BB2-3F6B-DD90-98EC62F4598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55601" y="1104896"/>
            <a:ext cx="11341102" cy="4673324"/>
          </a:xfrm>
        </p:spPr>
        <p:txBody>
          <a:bodyPr/>
          <a:lstStyle>
            <a:lvl1pPr marL="444498" indent="-444498">
              <a:buClr>
                <a:srgbClr val="000000"/>
              </a:buClr>
              <a:buFont typeface="Lato" pitchFamily="34"/>
              <a:buChar char="—"/>
              <a:defRPr sz="2000">
                <a:ea typeface="Lato" pitchFamily="34"/>
              </a:defRPr>
            </a:lvl1pPr>
            <a:lvl2pPr marL="812801" indent="-355601">
              <a:buClr>
                <a:srgbClr val="404040"/>
              </a:buClr>
              <a:buFont typeface="Lato" pitchFamily="34"/>
              <a:buChar char="—"/>
              <a:defRPr sz="1800">
                <a:ea typeface="Lato" pitchFamily="34"/>
              </a:defRPr>
            </a:lvl2pPr>
            <a:lvl3pPr marL="1257300" indent="-342900">
              <a:buClr>
                <a:srgbClr val="7F7F7F"/>
              </a:buClr>
              <a:buFont typeface="Lato" pitchFamily="34"/>
              <a:buChar char="—"/>
              <a:defRPr sz="1600">
                <a:ea typeface="Lato" pitchFamily="34"/>
              </a:defRPr>
            </a:lvl3pPr>
            <a:lvl4pPr>
              <a:buClr>
                <a:srgbClr val="7F7F7F"/>
              </a:buClr>
              <a:buFont typeface="Lato" pitchFamily="34"/>
              <a:buChar char="—"/>
              <a:defRPr sz="1400">
                <a:ea typeface="Lato" pitchFamily="34"/>
              </a:defRPr>
            </a:lvl4pPr>
            <a:lvl5pPr>
              <a:buClr>
                <a:srgbClr val="A6A6A6"/>
              </a:buClr>
              <a:buFont typeface="Lato" pitchFamily="34"/>
              <a:buChar char="—"/>
              <a:defRPr sz="1400">
                <a:ea typeface="Lato" pitchFamily="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21">
            <a:extLst>
              <a:ext uri="{FF2B5EF4-FFF2-40B4-BE49-F238E27FC236}">
                <a16:creationId xmlns:a16="http://schemas.microsoft.com/office/drawing/2014/main" id="{14BAABAF-6873-E67D-D283-4725CA9FC003}"/>
              </a:ext>
            </a:extLst>
          </p:cNvPr>
          <p:cNvSpPr/>
          <p:nvPr/>
        </p:nvSpPr>
        <p:spPr>
          <a:xfrm>
            <a:off x="0" y="5939366"/>
            <a:ext cx="12191996" cy="918633"/>
          </a:xfrm>
          <a:prstGeom prst="rect">
            <a:avLst/>
          </a:prstGeom>
          <a:solidFill>
            <a:srgbClr val="EEEEF0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600" b="0" i="0" u="none" strike="noStrike" kern="1200" cap="none" spc="0" baseline="0">
              <a:solidFill>
                <a:srgbClr val="FFFFFF"/>
              </a:solidFill>
              <a:uFillTx/>
              <a:latin typeface="Poppins" pitchFamily="2"/>
              <a:cs typeface="Poppins" pitchFamily="2"/>
            </a:endParaRPr>
          </a:p>
        </p:txBody>
      </p:sp>
      <p:cxnSp>
        <p:nvCxnSpPr>
          <p:cNvPr id="5" name="Straight Connector 25">
            <a:extLst>
              <a:ext uri="{FF2B5EF4-FFF2-40B4-BE49-F238E27FC236}">
                <a16:creationId xmlns:a16="http://schemas.microsoft.com/office/drawing/2014/main" id="{B2D375E7-E958-D98B-A43B-5F9DB17CB482}"/>
              </a:ext>
            </a:extLst>
          </p:cNvPr>
          <p:cNvCxnSpPr/>
          <p:nvPr/>
        </p:nvCxnSpPr>
        <p:spPr>
          <a:xfrm>
            <a:off x="-12701" y="5939366"/>
            <a:ext cx="12204697" cy="0"/>
          </a:xfrm>
          <a:prstGeom prst="straightConnector1">
            <a:avLst/>
          </a:prstGeom>
          <a:noFill/>
          <a:ln w="6345" cap="flat">
            <a:solidFill>
              <a:srgbClr val="A6A6A6"/>
            </a:solidFill>
            <a:prstDash val="solid"/>
            <a:miter/>
          </a:ln>
        </p:spPr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99550-9FE6-AF95-B66D-0C4C1B389A4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5861047" y="6211894"/>
            <a:ext cx="469901" cy="365129"/>
          </a:xfrm>
        </p:spPr>
        <p:txBody>
          <a:bodyPr/>
          <a:lstStyle>
            <a:lvl1pPr>
              <a:defRPr sz="1050">
                <a:ea typeface="Lato" pitchFamily="34"/>
              </a:defRPr>
            </a:lvl1pPr>
          </a:lstStyle>
          <a:p>
            <a:pPr lvl="0"/>
            <a:fld id="{16D129D1-4816-4067-87AB-379A876CBDBB}" type="slidenum">
              <a:t>‹#›</a:t>
            </a:fld>
            <a:endParaRPr lang="en-IN"/>
          </a:p>
        </p:txBody>
      </p:sp>
      <p:pic>
        <p:nvPicPr>
          <p:cNvPr id="7" name="Picture 30">
            <a:hlinkClick r:id="rId2"/>
            <a:extLst>
              <a:ext uri="{FF2B5EF4-FFF2-40B4-BE49-F238E27FC236}">
                <a16:creationId xmlns:a16="http://schemas.microsoft.com/office/drawing/2014/main" id="{7E893E40-0BC7-B5AF-73FB-785D9F0D2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59" y="6146733"/>
            <a:ext cx="568802" cy="5045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10">
            <a:extLst>
              <a:ext uri="{FF2B5EF4-FFF2-40B4-BE49-F238E27FC236}">
                <a16:creationId xmlns:a16="http://schemas.microsoft.com/office/drawing/2014/main" id="{B3158AC3-AAF0-8CEE-0875-CA010DEAACA9}"/>
              </a:ext>
            </a:extLst>
          </p:cNvPr>
          <p:cNvSpPr txBox="1"/>
          <p:nvPr/>
        </p:nvSpPr>
        <p:spPr>
          <a:xfrm>
            <a:off x="7889104" y="6193304"/>
            <a:ext cx="3921267" cy="261609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100" b="0" i="0" u="none" strike="noStrike" kern="1200" cap="none" spc="0" baseline="0">
                <a:solidFill>
                  <a:srgbClr val="595959"/>
                </a:solidFill>
                <a:uFillTx/>
                <a:latin typeface="Poppins" pitchFamily="2"/>
                <a:ea typeface="Lato" pitchFamily="34"/>
                <a:cs typeface="Poppins" pitchFamily="2"/>
              </a:rPr>
              <a:t>© Copyright : Centre for Computational Technologies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38ED70CF-DD6D-7F3B-7D94-147EFC0E1F0F}"/>
              </a:ext>
            </a:extLst>
          </p:cNvPr>
          <p:cNvSpPr/>
          <p:nvPr/>
        </p:nvSpPr>
        <p:spPr>
          <a:xfrm>
            <a:off x="10425961" y="6385511"/>
            <a:ext cx="1401345" cy="26160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100" b="0" i="0" u="none" strike="noStrike" kern="1200" cap="none" spc="0" baseline="0">
                <a:solidFill>
                  <a:srgbClr val="166FA9"/>
                </a:solidFill>
                <a:uFillTx/>
                <a:latin typeface="Poppins" pitchFamily="2"/>
                <a:ea typeface="Lato" pitchFamily="34"/>
                <a:cs typeface="Poppins" pitchFamily="2"/>
              </a:rPr>
              <a:t>www.cctech.co.in</a:t>
            </a:r>
          </a:p>
        </p:txBody>
      </p:sp>
      <p:sp>
        <p:nvSpPr>
          <p:cNvPr id="10" name="Rectangle 12">
            <a:hlinkClick r:id="rId2"/>
            <a:extLst>
              <a:ext uri="{FF2B5EF4-FFF2-40B4-BE49-F238E27FC236}">
                <a16:creationId xmlns:a16="http://schemas.microsoft.com/office/drawing/2014/main" id="{246BB31E-841D-A5BA-B484-0752DC20BA10}"/>
              </a:ext>
            </a:extLst>
          </p:cNvPr>
          <p:cNvSpPr/>
          <p:nvPr/>
        </p:nvSpPr>
        <p:spPr>
          <a:xfrm>
            <a:off x="10512527" y="6445797"/>
            <a:ext cx="1235637" cy="17786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400" b="0" i="0" u="none" strike="noStrike" kern="1200" cap="none" spc="0" baseline="0">
              <a:solidFill>
                <a:srgbClr val="FFFFFF"/>
              </a:solidFill>
              <a:uFillTx/>
              <a:latin typeface="Poppins" pitchFamily="2"/>
              <a:cs typeface="Poppins" pitchFamily="2"/>
            </a:endParaRPr>
          </a:p>
        </p:txBody>
      </p:sp>
      <p:sp>
        <p:nvSpPr>
          <p:cNvPr id="11" name="Right Triangle 3">
            <a:extLst>
              <a:ext uri="{FF2B5EF4-FFF2-40B4-BE49-F238E27FC236}">
                <a16:creationId xmlns:a16="http://schemas.microsoft.com/office/drawing/2014/main" id="{0FAF6657-94C5-5197-978B-095BF0E1AD96}"/>
              </a:ext>
            </a:extLst>
          </p:cNvPr>
          <p:cNvSpPr/>
          <p:nvPr/>
        </p:nvSpPr>
        <p:spPr>
          <a:xfrm flipH="1" flipV="1">
            <a:off x="11619436" y="0"/>
            <a:ext cx="572569" cy="57256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360"/>
              <a:gd name="f8" fmla="+- 0 0 -180"/>
              <a:gd name="f9" fmla="+- 0 0 -90"/>
              <a:gd name="f10" fmla="abs f3"/>
              <a:gd name="f11" fmla="abs f4"/>
              <a:gd name="f12" fmla="abs f5"/>
              <a:gd name="f13" fmla="val f6"/>
              <a:gd name="f14" fmla="*/ f7 f0 1"/>
              <a:gd name="f15" fmla="*/ f8 f0 1"/>
              <a:gd name="f16" fmla="*/ f9 f0 1"/>
              <a:gd name="f17" fmla="?: f10 f3 1"/>
              <a:gd name="f18" fmla="?: f11 f4 1"/>
              <a:gd name="f19" fmla="?: f12 f5 1"/>
              <a:gd name="f20" fmla="*/ f14 1 f2"/>
              <a:gd name="f21" fmla="*/ f15 1 f2"/>
              <a:gd name="f22" fmla="*/ f16 1 f2"/>
              <a:gd name="f23" fmla="*/ f17 1 21600"/>
              <a:gd name="f24" fmla="*/ f18 1 21600"/>
              <a:gd name="f25" fmla="*/ 21600 f17 1"/>
              <a:gd name="f26" fmla="*/ 21600 f18 1"/>
              <a:gd name="f27" fmla="+- f20 0 f1"/>
              <a:gd name="f28" fmla="+- f21 0 f1"/>
              <a:gd name="f29" fmla="+- f22 0 f1"/>
              <a:gd name="f30" fmla="min f24 f23"/>
              <a:gd name="f31" fmla="*/ f25 1 f19"/>
              <a:gd name="f32" fmla="*/ f26 1 f19"/>
              <a:gd name="f33" fmla="val f31"/>
              <a:gd name="f34" fmla="val f32"/>
              <a:gd name="f35" fmla="*/ f13 f30 1"/>
              <a:gd name="f36" fmla="+- f34 0 f13"/>
              <a:gd name="f37" fmla="+- f33 0 f13"/>
              <a:gd name="f38" fmla="*/ f34 f30 1"/>
              <a:gd name="f39" fmla="*/ f33 f30 1"/>
              <a:gd name="f40" fmla="*/ f36 1 2"/>
              <a:gd name="f41" fmla="*/ f37 1 2"/>
              <a:gd name="f42" fmla="*/ f37 1 12"/>
              <a:gd name="f43" fmla="*/ f36 7 1"/>
              <a:gd name="f44" fmla="*/ f37 7 1"/>
              <a:gd name="f45" fmla="*/ f36 11 1"/>
              <a:gd name="f46" fmla="+- f13 f40 0"/>
              <a:gd name="f47" fmla="+- f13 f41 0"/>
              <a:gd name="f48" fmla="*/ f43 1 12"/>
              <a:gd name="f49" fmla="*/ f44 1 12"/>
              <a:gd name="f50" fmla="*/ f45 1 12"/>
              <a:gd name="f51" fmla="*/ f42 f30 1"/>
              <a:gd name="f52" fmla="*/ f48 f30 1"/>
              <a:gd name="f53" fmla="*/ f49 f30 1"/>
              <a:gd name="f54" fmla="*/ f50 f30 1"/>
              <a:gd name="f55" fmla="*/ f47 f30 1"/>
              <a:gd name="f56" fmla="*/ f46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35" y="f35"/>
              </a:cxn>
              <a:cxn ang="f28">
                <a:pos x="f35" y="f38"/>
              </a:cxn>
              <a:cxn ang="f28">
                <a:pos x="f39" y="f38"/>
              </a:cxn>
              <a:cxn ang="f29">
                <a:pos x="f55" y="f56"/>
              </a:cxn>
            </a:cxnLst>
            <a:rect l="f51" t="f52" r="f53" b="f54"/>
            <a:pathLst>
              <a:path>
                <a:moveTo>
                  <a:pt x="f35" y="f38"/>
                </a:moveTo>
                <a:lnTo>
                  <a:pt x="f35" y="f35"/>
                </a:lnTo>
                <a:lnTo>
                  <a:pt x="f39" y="f38"/>
                </a:lnTo>
                <a:close/>
              </a:path>
            </a:pathLst>
          </a:custGeom>
          <a:solidFill>
            <a:srgbClr val="E77817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81866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2">
            <a:extLst>
              <a:ext uri="{FF2B5EF4-FFF2-40B4-BE49-F238E27FC236}">
                <a16:creationId xmlns:a16="http://schemas.microsoft.com/office/drawing/2014/main" id="{53B2BEFF-D523-A014-FD8B-BBA34B432A04}"/>
              </a:ext>
            </a:extLst>
          </p:cNvPr>
          <p:cNvSpPr/>
          <p:nvPr/>
        </p:nvSpPr>
        <p:spPr>
          <a:xfrm>
            <a:off x="0" y="5939366"/>
            <a:ext cx="12191996" cy="918633"/>
          </a:xfrm>
          <a:prstGeom prst="rect">
            <a:avLst/>
          </a:prstGeom>
          <a:solidFill>
            <a:srgbClr val="EEEEF0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600" b="0" i="0" u="none" strike="noStrike" kern="1200" cap="none" spc="0" baseline="0">
              <a:solidFill>
                <a:srgbClr val="FFFFFF"/>
              </a:solidFill>
              <a:uFillTx/>
              <a:latin typeface="Poppins" pitchFamily="2"/>
              <a:cs typeface="Poppins" pitchFamily="2"/>
            </a:endParaRPr>
          </a:p>
        </p:txBody>
      </p:sp>
      <p:cxnSp>
        <p:nvCxnSpPr>
          <p:cNvPr id="3" name="Straight Connector 23">
            <a:extLst>
              <a:ext uri="{FF2B5EF4-FFF2-40B4-BE49-F238E27FC236}">
                <a16:creationId xmlns:a16="http://schemas.microsoft.com/office/drawing/2014/main" id="{90342D95-6FAB-1B4C-5C30-A1EF7B289861}"/>
              </a:ext>
            </a:extLst>
          </p:cNvPr>
          <p:cNvCxnSpPr/>
          <p:nvPr/>
        </p:nvCxnSpPr>
        <p:spPr>
          <a:xfrm>
            <a:off x="-12701" y="5939366"/>
            <a:ext cx="12204697" cy="0"/>
          </a:xfrm>
          <a:prstGeom prst="straightConnector1">
            <a:avLst/>
          </a:prstGeom>
          <a:noFill/>
          <a:ln w="6345" cap="flat">
            <a:solidFill>
              <a:srgbClr val="A6A6A6"/>
            </a:solidFill>
            <a:prstDash val="solid"/>
            <a:miter/>
          </a:ln>
        </p:spPr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0596753-6698-2A8C-BB58-484381AA675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5861047" y="6211894"/>
            <a:ext cx="469901" cy="365129"/>
          </a:xfrm>
        </p:spPr>
        <p:txBody>
          <a:bodyPr/>
          <a:lstStyle>
            <a:lvl1pPr>
              <a:defRPr sz="1050">
                <a:ea typeface="Lato" pitchFamily="34"/>
              </a:defRPr>
            </a:lvl1pPr>
          </a:lstStyle>
          <a:p>
            <a:pPr lvl="0"/>
            <a:fld id="{4D86EE28-C18D-4896-87C9-462E0D6210C4}" type="slidenum">
              <a:t>‹#›</a:t>
            </a:fld>
            <a:endParaRPr lang="en-IN"/>
          </a:p>
        </p:txBody>
      </p:sp>
      <p:pic>
        <p:nvPicPr>
          <p:cNvPr id="5" name="Picture 28">
            <a:hlinkClick r:id="rId2"/>
            <a:extLst>
              <a:ext uri="{FF2B5EF4-FFF2-40B4-BE49-F238E27FC236}">
                <a16:creationId xmlns:a16="http://schemas.microsoft.com/office/drawing/2014/main" id="{60331426-C415-E098-8542-D9FF05DA7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59" y="6146733"/>
            <a:ext cx="568802" cy="5045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8">
            <a:extLst>
              <a:ext uri="{FF2B5EF4-FFF2-40B4-BE49-F238E27FC236}">
                <a16:creationId xmlns:a16="http://schemas.microsoft.com/office/drawing/2014/main" id="{9FED4C4C-72A8-4013-CB85-89B0F1602020}"/>
              </a:ext>
            </a:extLst>
          </p:cNvPr>
          <p:cNvSpPr txBox="1"/>
          <p:nvPr/>
        </p:nvSpPr>
        <p:spPr>
          <a:xfrm>
            <a:off x="7889104" y="6193304"/>
            <a:ext cx="3921267" cy="261609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100" b="0" i="0" u="none" strike="noStrike" kern="1200" cap="none" spc="0" baseline="0">
                <a:solidFill>
                  <a:srgbClr val="595959"/>
                </a:solidFill>
                <a:uFillTx/>
                <a:latin typeface="Poppins" pitchFamily="2"/>
                <a:ea typeface="Lato" pitchFamily="34"/>
                <a:cs typeface="Poppins" pitchFamily="2"/>
              </a:rPr>
              <a:t>© Copyright : Centre for Computational Technologies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CD7D8991-FFCA-3905-E391-367F4D3CFA65}"/>
              </a:ext>
            </a:extLst>
          </p:cNvPr>
          <p:cNvSpPr/>
          <p:nvPr/>
        </p:nvSpPr>
        <p:spPr>
          <a:xfrm>
            <a:off x="10425961" y="6385511"/>
            <a:ext cx="1401345" cy="26160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100" b="0" i="0" u="none" strike="noStrike" kern="1200" cap="none" spc="0" baseline="0">
                <a:solidFill>
                  <a:srgbClr val="166FA9"/>
                </a:solidFill>
                <a:uFillTx/>
                <a:latin typeface="Poppins" pitchFamily="2"/>
                <a:ea typeface="Lato" pitchFamily="34"/>
                <a:cs typeface="Poppins" pitchFamily="2"/>
              </a:rPr>
              <a:t>www.cctech.co.in</a:t>
            </a:r>
          </a:p>
        </p:txBody>
      </p:sp>
      <p:sp>
        <p:nvSpPr>
          <p:cNvPr id="8" name="Rectangle 10">
            <a:hlinkClick r:id="rId2"/>
            <a:extLst>
              <a:ext uri="{FF2B5EF4-FFF2-40B4-BE49-F238E27FC236}">
                <a16:creationId xmlns:a16="http://schemas.microsoft.com/office/drawing/2014/main" id="{1BC16121-DB74-9445-EB58-E571B10D5012}"/>
              </a:ext>
            </a:extLst>
          </p:cNvPr>
          <p:cNvSpPr/>
          <p:nvPr/>
        </p:nvSpPr>
        <p:spPr>
          <a:xfrm>
            <a:off x="10512527" y="6445797"/>
            <a:ext cx="1235637" cy="17786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400" b="0" i="0" u="none" strike="noStrike" kern="1200" cap="none" spc="0" baseline="0">
              <a:solidFill>
                <a:srgbClr val="FFFFFF"/>
              </a:solidFill>
              <a:uFillTx/>
              <a:latin typeface="Poppins" pitchFamily="2"/>
              <a:cs typeface="Poppins" pitchFamily="2"/>
            </a:endParaRPr>
          </a:p>
        </p:txBody>
      </p:sp>
      <p:sp>
        <p:nvSpPr>
          <p:cNvPr id="9" name="Right Triangle 1">
            <a:extLst>
              <a:ext uri="{FF2B5EF4-FFF2-40B4-BE49-F238E27FC236}">
                <a16:creationId xmlns:a16="http://schemas.microsoft.com/office/drawing/2014/main" id="{8999C8A0-7072-34BE-4D6D-78436B7DED68}"/>
              </a:ext>
            </a:extLst>
          </p:cNvPr>
          <p:cNvSpPr/>
          <p:nvPr/>
        </p:nvSpPr>
        <p:spPr>
          <a:xfrm flipH="1" flipV="1">
            <a:off x="11619436" y="0"/>
            <a:ext cx="572569" cy="57256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360"/>
              <a:gd name="f8" fmla="+- 0 0 -180"/>
              <a:gd name="f9" fmla="+- 0 0 -90"/>
              <a:gd name="f10" fmla="abs f3"/>
              <a:gd name="f11" fmla="abs f4"/>
              <a:gd name="f12" fmla="abs f5"/>
              <a:gd name="f13" fmla="val f6"/>
              <a:gd name="f14" fmla="*/ f7 f0 1"/>
              <a:gd name="f15" fmla="*/ f8 f0 1"/>
              <a:gd name="f16" fmla="*/ f9 f0 1"/>
              <a:gd name="f17" fmla="?: f10 f3 1"/>
              <a:gd name="f18" fmla="?: f11 f4 1"/>
              <a:gd name="f19" fmla="?: f12 f5 1"/>
              <a:gd name="f20" fmla="*/ f14 1 f2"/>
              <a:gd name="f21" fmla="*/ f15 1 f2"/>
              <a:gd name="f22" fmla="*/ f16 1 f2"/>
              <a:gd name="f23" fmla="*/ f17 1 21600"/>
              <a:gd name="f24" fmla="*/ f18 1 21600"/>
              <a:gd name="f25" fmla="*/ 21600 f17 1"/>
              <a:gd name="f26" fmla="*/ 21600 f18 1"/>
              <a:gd name="f27" fmla="+- f20 0 f1"/>
              <a:gd name="f28" fmla="+- f21 0 f1"/>
              <a:gd name="f29" fmla="+- f22 0 f1"/>
              <a:gd name="f30" fmla="min f24 f23"/>
              <a:gd name="f31" fmla="*/ f25 1 f19"/>
              <a:gd name="f32" fmla="*/ f26 1 f19"/>
              <a:gd name="f33" fmla="val f31"/>
              <a:gd name="f34" fmla="val f32"/>
              <a:gd name="f35" fmla="*/ f13 f30 1"/>
              <a:gd name="f36" fmla="+- f34 0 f13"/>
              <a:gd name="f37" fmla="+- f33 0 f13"/>
              <a:gd name="f38" fmla="*/ f34 f30 1"/>
              <a:gd name="f39" fmla="*/ f33 f30 1"/>
              <a:gd name="f40" fmla="*/ f36 1 2"/>
              <a:gd name="f41" fmla="*/ f37 1 2"/>
              <a:gd name="f42" fmla="*/ f37 1 12"/>
              <a:gd name="f43" fmla="*/ f36 7 1"/>
              <a:gd name="f44" fmla="*/ f37 7 1"/>
              <a:gd name="f45" fmla="*/ f36 11 1"/>
              <a:gd name="f46" fmla="+- f13 f40 0"/>
              <a:gd name="f47" fmla="+- f13 f41 0"/>
              <a:gd name="f48" fmla="*/ f43 1 12"/>
              <a:gd name="f49" fmla="*/ f44 1 12"/>
              <a:gd name="f50" fmla="*/ f45 1 12"/>
              <a:gd name="f51" fmla="*/ f42 f30 1"/>
              <a:gd name="f52" fmla="*/ f48 f30 1"/>
              <a:gd name="f53" fmla="*/ f49 f30 1"/>
              <a:gd name="f54" fmla="*/ f50 f30 1"/>
              <a:gd name="f55" fmla="*/ f47 f30 1"/>
              <a:gd name="f56" fmla="*/ f46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35" y="f35"/>
              </a:cxn>
              <a:cxn ang="f28">
                <a:pos x="f35" y="f38"/>
              </a:cxn>
              <a:cxn ang="f28">
                <a:pos x="f39" y="f38"/>
              </a:cxn>
              <a:cxn ang="f29">
                <a:pos x="f55" y="f56"/>
              </a:cxn>
            </a:cxnLst>
            <a:rect l="f51" t="f52" r="f53" b="f54"/>
            <a:pathLst>
              <a:path>
                <a:moveTo>
                  <a:pt x="f35" y="f38"/>
                </a:moveTo>
                <a:lnTo>
                  <a:pt x="f35" y="f35"/>
                </a:lnTo>
                <a:lnTo>
                  <a:pt x="f39" y="f38"/>
                </a:lnTo>
                <a:close/>
              </a:path>
            </a:pathLst>
          </a:custGeom>
          <a:solidFill>
            <a:srgbClr val="E77817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873761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00C12-D337-FC41-E1DE-AEDB008859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5601" y="231772"/>
            <a:ext cx="11341102" cy="57498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>
                <a:solidFill>
                  <a:srgbClr val="366B9D"/>
                </a:solidFill>
                <a:ea typeface="Lato" pitchFamily="34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24">
            <a:extLst>
              <a:ext uri="{FF2B5EF4-FFF2-40B4-BE49-F238E27FC236}">
                <a16:creationId xmlns:a16="http://schemas.microsoft.com/office/drawing/2014/main" id="{680998D6-6AA7-6C64-58A6-85A912CED80C}"/>
              </a:ext>
            </a:extLst>
          </p:cNvPr>
          <p:cNvSpPr/>
          <p:nvPr/>
        </p:nvSpPr>
        <p:spPr>
          <a:xfrm>
            <a:off x="0" y="5939366"/>
            <a:ext cx="12191996" cy="918633"/>
          </a:xfrm>
          <a:prstGeom prst="rect">
            <a:avLst/>
          </a:prstGeom>
          <a:solidFill>
            <a:srgbClr val="EEEEF0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600" b="0" i="0" u="none" strike="noStrike" kern="1200" cap="none" spc="0" baseline="0">
              <a:solidFill>
                <a:srgbClr val="FFFFFF"/>
              </a:solidFill>
              <a:uFillTx/>
              <a:latin typeface="Poppins" pitchFamily="2"/>
              <a:cs typeface="Poppins" pitchFamily="2"/>
            </a:endParaRPr>
          </a:p>
        </p:txBody>
      </p:sp>
      <p:cxnSp>
        <p:nvCxnSpPr>
          <p:cNvPr id="4" name="Straight Connector 25">
            <a:extLst>
              <a:ext uri="{FF2B5EF4-FFF2-40B4-BE49-F238E27FC236}">
                <a16:creationId xmlns:a16="http://schemas.microsoft.com/office/drawing/2014/main" id="{35DCF76D-11AA-F232-419E-45A898AD8006}"/>
              </a:ext>
            </a:extLst>
          </p:cNvPr>
          <p:cNvCxnSpPr/>
          <p:nvPr/>
        </p:nvCxnSpPr>
        <p:spPr>
          <a:xfrm>
            <a:off x="-12701" y="5939366"/>
            <a:ext cx="12204697" cy="0"/>
          </a:xfrm>
          <a:prstGeom prst="straightConnector1">
            <a:avLst/>
          </a:prstGeom>
          <a:noFill/>
          <a:ln w="6345" cap="flat">
            <a:solidFill>
              <a:srgbClr val="A6A6A6"/>
            </a:solidFill>
            <a:prstDash val="solid"/>
            <a:miter/>
          </a:ln>
        </p:spPr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D117B1D-FC11-04C8-4DEA-353341862FB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5861047" y="6211894"/>
            <a:ext cx="469901" cy="365129"/>
          </a:xfrm>
        </p:spPr>
        <p:txBody>
          <a:bodyPr/>
          <a:lstStyle>
            <a:lvl1pPr>
              <a:defRPr sz="1050">
                <a:ea typeface="Lato" pitchFamily="34"/>
              </a:defRPr>
            </a:lvl1pPr>
          </a:lstStyle>
          <a:p>
            <a:pPr lvl="0"/>
            <a:fld id="{7C376AD1-21B5-4C65-89AD-86BEEABBBBF2}" type="slidenum">
              <a:t>‹#›</a:t>
            </a:fld>
            <a:endParaRPr lang="en-IN"/>
          </a:p>
        </p:txBody>
      </p:sp>
      <p:pic>
        <p:nvPicPr>
          <p:cNvPr id="6" name="Picture 30">
            <a:hlinkClick r:id="rId2"/>
            <a:extLst>
              <a:ext uri="{FF2B5EF4-FFF2-40B4-BE49-F238E27FC236}">
                <a16:creationId xmlns:a16="http://schemas.microsoft.com/office/drawing/2014/main" id="{B7234540-513C-454E-4D3A-751893CEC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59" y="6146733"/>
            <a:ext cx="568802" cy="5045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0D739A84-CF8E-CD37-4E9B-58C878101D7D}"/>
              </a:ext>
            </a:extLst>
          </p:cNvPr>
          <p:cNvSpPr txBox="1"/>
          <p:nvPr/>
        </p:nvSpPr>
        <p:spPr>
          <a:xfrm>
            <a:off x="7889104" y="6193304"/>
            <a:ext cx="3921267" cy="261609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100" b="0" i="0" u="none" strike="noStrike" kern="1200" cap="none" spc="0" baseline="0">
                <a:solidFill>
                  <a:srgbClr val="595959"/>
                </a:solidFill>
                <a:uFillTx/>
                <a:latin typeface="Poppins" pitchFamily="2"/>
                <a:ea typeface="Lato" pitchFamily="34"/>
                <a:cs typeface="Poppins" pitchFamily="2"/>
              </a:rPr>
              <a:t>© Copyright : Centre for Computational Technologies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1945EC43-5DF3-86D6-68CB-14CEF0B201B5}"/>
              </a:ext>
            </a:extLst>
          </p:cNvPr>
          <p:cNvSpPr/>
          <p:nvPr/>
        </p:nvSpPr>
        <p:spPr>
          <a:xfrm>
            <a:off x="10425961" y="6385511"/>
            <a:ext cx="1401345" cy="26160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100" b="0" i="0" u="none" strike="noStrike" kern="1200" cap="none" spc="0" baseline="0">
                <a:solidFill>
                  <a:srgbClr val="166FA9"/>
                </a:solidFill>
                <a:uFillTx/>
                <a:latin typeface="Poppins" pitchFamily="2"/>
                <a:ea typeface="Lato" pitchFamily="34"/>
                <a:cs typeface="Poppins" pitchFamily="2"/>
              </a:rPr>
              <a:t>www.cctech.co.in</a:t>
            </a:r>
          </a:p>
        </p:txBody>
      </p:sp>
      <p:sp>
        <p:nvSpPr>
          <p:cNvPr id="9" name="Rectangle 12">
            <a:hlinkClick r:id="rId2"/>
            <a:extLst>
              <a:ext uri="{FF2B5EF4-FFF2-40B4-BE49-F238E27FC236}">
                <a16:creationId xmlns:a16="http://schemas.microsoft.com/office/drawing/2014/main" id="{795BCB81-3C06-7C9C-28E8-67301E702D10}"/>
              </a:ext>
            </a:extLst>
          </p:cNvPr>
          <p:cNvSpPr/>
          <p:nvPr/>
        </p:nvSpPr>
        <p:spPr>
          <a:xfrm>
            <a:off x="10512527" y="6445797"/>
            <a:ext cx="1235637" cy="17786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400" b="0" i="0" u="none" strike="noStrike" kern="1200" cap="none" spc="0" baseline="0">
              <a:solidFill>
                <a:srgbClr val="FFFFFF"/>
              </a:solidFill>
              <a:uFillTx/>
              <a:latin typeface="Poppins" pitchFamily="2"/>
              <a:cs typeface="Poppins" pitchFamily="2"/>
            </a:endParaRPr>
          </a:p>
        </p:txBody>
      </p:sp>
      <p:sp>
        <p:nvSpPr>
          <p:cNvPr id="10" name="Right Triangle 1">
            <a:extLst>
              <a:ext uri="{FF2B5EF4-FFF2-40B4-BE49-F238E27FC236}">
                <a16:creationId xmlns:a16="http://schemas.microsoft.com/office/drawing/2014/main" id="{B772F967-134A-82E7-8EF7-1DA9BC180677}"/>
              </a:ext>
            </a:extLst>
          </p:cNvPr>
          <p:cNvSpPr/>
          <p:nvPr/>
        </p:nvSpPr>
        <p:spPr>
          <a:xfrm flipH="1" flipV="1">
            <a:off x="11619436" y="0"/>
            <a:ext cx="572569" cy="57256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360"/>
              <a:gd name="f8" fmla="+- 0 0 -180"/>
              <a:gd name="f9" fmla="+- 0 0 -90"/>
              <a:gd name="f10" fmla="abs f3"/>
              <a:gd name="f11" fmla="abs f4"/>
              <a:gd name="f12" fmla="abs f5"/>
              <a:gd name="f13" fmla="val f6"/>
              <a:gd name="f14" fmla="*/ f7 f0 1"/>
              <a:gd name="f15" fmla="*/ f8 f0 1"/>
              <a:gd name="f16" fmla="*/ f9 f0 1"/>
              <a:gd name="f17" fmla="?: f10 f3 1"/>
              <a:gd name="f18" fmla="?: f11 f4 1"/>
              <a:gd name="f19" fmla="?: f12 f5 1"/>
              <a:gd name="f20" fmla="*/ f14 1 f2"/>
              <a:gd name="f21" fmla="*/ f15 1 f2"/>
              <a:gd name="f22" fmla="*/ f16 1 f2"/>
              <a:gd name="f23" fmla="*/ f17 1 21600"/>
              <a:gd name="f24" fmla="*/ f18 1 21600"/>
              <a:gd name="f25" fmla="*/ 21600 f17 1"/>
              <a:gd name="f26" fmla="*/ 21600 f18 1"/>
              <a:gd name="f27" fmla="+- f20 0 f1"/>
              <a:gd name="f28" fmla="+- f21 0 f1"/>
              <a:gd name="f29" fmla="+- f22 0 f1"/>
              <a:gd name="f30" fmla="min f24 f23"/>
              <a:gd name="f31" fmla="*/ f25 1 f19"/>
              <a:gd name="f32" fmla="*/ f26 1 f19"/>
              <a:gd name="f33" fmla="val f31"/>
              <a:gd name="f34" fmla="val f32"/>
              <a:gd name="f35" fmla="*/ f13 f30 1"/>
              <a:gd name="f36" fmla="+- f34 0 f13"/>
              <a:gd name="f37" fmla="+- f33 0 f13"/>
              <a:gd name="f38" fmla="*/ f34 f30 1"/>
              <a:gd name="f39" fmla="*/ f33 f30 1"/>
              <a:gd name="f40" fmla="*/ f36 1 2"/>
              <a:gd name="f41" fmla="*/ f37 1 2"/>
              <a:gd name="f42" fmla="*/ f37 1 12"/>
              <a:gd name="f43" fmla="*/ f36 7 1"/>
              <a:gd name="f44" fmla="*/ f37 7 1"/>
              <a:gd name="f45" fmla="*/ f36 11 1"/>
              <a:gd name="f46" fmla="+- f13 f40 0"/>
              <a:gd name="f47" fmla="+- f13 f41 0"/>
              <a:gd name="f48" fmla="*/ f43 1 12"/>
              <a:gd name="f49" fmla="*/ f44 1 12"/>
              <a:gd name="f50" fmla="*/ f45 1 12"/>
              <a:gd name="f51" fmla="*/ f42 f30 1"/>
              <a:gd name="f52" fmla="*/ f48 f30 1"/>
              <a:gd name="f53" fmla="*/ f49 f30 1"/>
              <a:gd name="f54" fmla="*/ f50 f30 1"/>
              <a:gd name="f55" fmla="*/ f47 f30 1"/>
              <a:gd name="f56" fmla="*/ f46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35" y="f35"/>
              </a:cxn>
              <a:cxn ang="f28">
                <a:pos x="f35" y="f38"/>
              </a:cxn>
              <a:cxn ang="f28">
                <a:pos x="f39" y="f38"/>
              </a:cxn>
              <a:cxn ang="f29">
                <a:pos x="f55" y="f56"/>
              </a:cxn>
            </a:cxnLst>
            <a:rect l="f51" t="f52" r="f53" b="f54"/>
            <a:pathLst>
              <a:path>
                <a:moveTo>
                  <a:pt x="f35" y="f38"/>
                </a:moveTo>
                <a:lnTo>
                  <a:pt x="f35" y="f35"/>
                </a:lnTo>
                <a:lnTo>
                  <a:pt x="f39" y="f38"/>
                </a:lnTo>
                <a:close/>
              </a:path>
            </a:pathLst>
          </a:custGeom>
          <a:solidFill>
            <a:srgbClr val="E77817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0677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EEF5A66-DB8E-9225-B395-4EE5C5FA745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55601" y="1104896"/>
            <a:ext cx="5664195" cy="4673324"/>
          </a:xfrm>
        </p:spPr>
        <p:txBody>
          <a:bodyPr/>
          <a:lstStyle>
            <a:lvl1pPr marL="444498" indent="-444498">
              <a:buClr>
                <a:srgbClr val="000000"/>
              </a:buClr>
              <a:buFont typeface="Lato" pitchFamily="34"/>
              <a:buChar char="—"/>
              <a:defRPr sz="2000">
                <a:ea typeface="Lato" pitchFamily="34"/>
              </a:defRPr>
            </a:lvl1pPr>
            <a:lvl2pPr marL="812801" indent="-355601">
              <a:buClr>
                <a:srgbClr val="404040"/>
              </a:buClr>
              <a:buFont typeface="Lato" pitchFamily="34"/>
              <a:buChar char="—"/>
              <a:defRPr sz="1800">
                <a:ea typeface="Lato" pitchFamily="34"/>
              </a:defRPr>
            </a:lvl2pPr>
            <a:lvl3pPr marL="1257300" indent="-342900">
              <a:buClr>
                <a:srgbClr val="7F7F7F"/>
              </a:buClr>
              <a:buFont typeface="Lato" pitchFamily="34"/>
              <a:buChar char="—"/>
              <a:defRPr sz="1600">
                <a:ea typeface="Lato" pitchFamily="34"/>
              </a:defRPr>
            </a:lvl3pPr>
            <a:lvl4pPr>
              <a:buClr>
                <a:srgbClr val="7F7F7F"/>
              </a:buClr>
              <a:buFont typeface="Lato" pitchFamily="34"/>
              <a:buChar char="—"/>
              <a:defRPr sz="1400">
                <a:ea typeface="Lato" pitchFamily="34"/>
              </a:defRPr>
            </a:lvl4pPr>
            <a:lvl5pPr>
              <a:buClr>
                <a:srgbClr val="A6A6A6"/>
              </a:buClr>
              <a:buFont typeface="Lato" pitchFamily="34"/>
              <a:buChar char="—"/>
              <a:defRPr sz="1400">
                <a:ea typeface="Lato" pitchFamily="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06FB4-0319-9095-5D95-875BC8EF2BA5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172200" y="1104896"/>
            <a:ext cx="5664195" cy="4673324"/>
          </a:xfrm>
        </p:spPr>
        <p:txBody>
          <a:bodyPr/>
          <a:lstStyle>
            <a:lvl1pPr marL="444498" indent="-444498">
              <a:buClr>
                <a:srgbClr val="000000"/>
              </a:buClr>
              <a:buFont typeface="Lato" pitchFamily="34"/>
              <a:buChar char="—"/>
              <a:defRPr sz="2000">
                <a:ea typeface="Lato" pitchFamily="34"/>
              </a:defRPr>
            </a:lvl1pPr>
            <a:lvl2pPr marL="812801" indent="-355601">
              <a:buClr>
                <a:srgbClr val="404040"/>
              </a:buClr>
              <a:buFont typeface="Lato" pitchFamily="34"/>
              <a:buChar char="—"/>
              <a:defRPr sz="1800">
                <a:ea typeface="Lato" pitchFamily="34"/>
              </a:defRPr>
            </a:lvl2pPr>
            <a:lvl3pPr marL="1257300" indent="-342900">
              <a:buClr>
                <a:srgbClr val="7F7F7F"/>
              </a:buClr>
              <a:buFont typeface="Lato" pitchFamily="34"/>
              <a:buChar char="—"/>
              <a:defRPr sz="1600">
                <a:ea typeface="Lato" pitchFamily="34"/>
              </a:defRPr>
            </a:lvl3pPr>
            <a:lvl4pPr>
              <a:buClr>
                <a:srgbClr val="7F7F7F"/>
              </a:buClr>
              <a:buFont typeface="Lato" pitchFamily="34"/>
              <a:buChar char="—"/>
              <a:defRPr sz="1400">
                <a:ea typeface="Lato" pitchFamily="34"/>
              </a:defRPr>
            </a:lvl4pPr>
            <a:lvl5pPr>
              <a:buClr>
                <a:srgbClr val="A6A6A6"/>
              </a:buClr>
              <a:buFont typeface="Lato" pitchFamily="34"/>
              <a:buChar char="—"/>
              <a:defRPr sz="1400">
                <a:ea typeface="Lato" pitchFamily="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DB52DFE-E420-0592-98A4-CAA056CC5F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5601" y="231772"/>
            <a:ext cx="11480804" cy="57498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>
                <a:solidFill>
                  <a:srgbClr val="366B9D"/>
                </a:solidFill>
                <a:ea typeface="Lato" pitchFamily="34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2C85F9B9-0609-5EDE-1E68-05D7FC7F14B5}"/>
              </a:ext>
            </a:extLst>
          </p:cNvPr>
          <p:cNvSpPr/>
          <p:nvPr/>
        </p:nvSpPr>
        <p:spPr>
          <a:xfrm>
            <a:off x="0" y="5939366"/>
            <a:ext cx="12191996" cy="918633"/>
          </a:xfrm>
          <a:prstGeom prst="rect">
            <a:avLst/>
          </a:prstGeom>
          <a:solidFill>
            <a:srgbClr val="EEEEF0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600" b="0" i="0" u="none" strike="noStrike" kern="1200" cap="none" spc="0" baseline="0">
              <a:solidFill>
                <a:srgbClr val="FFFFFF"/>
              </a:solidFill>
              <a:uFillTx/>
              <a:latin typeface="Poppins" pitchFamily="2"/>
              <a:cs typeface="Poppins" pitchFamily="2"/>
            </a:endParaRPr>
          </a:p>
        </p:txBody>
      </p:sp>
      <p:cxnSp>
        <p:nvCxnSpPr>
          <p:cNvPr id="6" name="Straight Connector 29">
            <a:extLst>
              <a:ext uri="{FF2B5EF4-FFF2-40B4-BE49-F238E27FC236}">
                <a16:creationId xmlns:a16="http://schemas.microsoft.com/office/drawing/2014/main" id="{8A9A64DD-E9E3-B8CD-DA43-429D07D02869}"/>
              </a:ext>
            </a:extLst>
          </p:cNvPr>
          <p:cNvCxnSpPr/>
          <p:nvPr/>
        </p:nvCxnSpPr>
        <p:spPr>
          <a:xfrm>
            <a:off x="-12701" y="5939366"/>
            <a:ext cx="12204697" cy="0"/>
          </a:xfrm>
          <a:prstGeom prst="straightConnector1">
            <a:avLst/>
          </a:prstGeom>
          <a:noFill/>
          <a:ln w="6345" cap="flat">
            <a:solidFill>
              <a:srgbClr val="A6A6A6"/>
            </a:solidFill>
            <a:prstDash val="solid"/>
            <a:miter/>
          </a:ln>
        </p:spPr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27F0E76-7D0F-C443-74CC-1AED6252801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5861047" y="6211894"/>
            <a:ext cx="469901" cy="365129"/>
          </a:xfrm>
        </p:spPr>
        <p:txBody>
          <a:bodyPr/>
          <a:lstStyle>
            <a:lvl1pPr>
              <a:defRPr sz="1050">
                <a:ea typeface="Lato" pitchFamily="34"/>
              </a:defRPr>
            </a:lvl1pPr>
          </a:lstStyle>
          <a:p>
            <a:pPr lvl="0"/>
            <a:fld id="{509F26CD-2940-4898-ADA0-1B2D2735B4AB}" type="slidenum">
              <a:t>‹#›</a:t>
            </a:fld>
            <a:endParaRPr lang="en-IN"/>
          </a:p>
        </p:txBody>
      </p:sp>
      <p:pic>
        <p:nvPicPr>
          <p:cNvPr id="8" name="Picture 34">
            <a:hlinkClick r:id="rId2"/>
            <a:extLst>
              <a:ext uri="{FF2B5EF4-FFF2-40B4-BE49-F238E27FC236}">
                <a16:creationId xmlns:a16="http://schemas.microsoft.com/office/drawing/2014/main" id="{F1766E58-1C95-4A60-2C19-0F6EDD052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59" y="6146733"/>
            <a:ext cx="568802" cy="5045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11">
            <a:extLst>
              <a:ext uri="{FF2B5EF4-FFF2-40B4-BE49-F238E27FC236}">
                <a16:creationId xmlns:a16="http://schemas.microsoft.com/office/drawing/2014/main" id="{525046F0-BFA2-63C1-A8E1-2CC48E1BF5C5}"/>
              </a:ext>
            </a:extLst>
          </p:cNvPr>
          <p:cNvSpPr txBox="1"/>
          <p:nvPr/>
        </p:nvSpPr>
        <p:spPr>
          <a:xfrm>
            <a:off x="7889104" y="6193304"/>
            <a:ext cx="3921267" cy="261609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100" b="0" i="0" u="none" strike="noStrike" kern="1200" cap="none" spc="0" baseline="0">
                <a:solidFill>
                  <a:srgbClr val="595959"/>
                </a:solidFill>
                <a:uFillTx/>
                <a:latin typeface="Poppins" pitchFamily="2"/>
                <a:ea typeface="Lato" pitchFamily="34"/>
                <a:cs typeface="Poppins" pitchFamily="2"/>
              </a:rPr>
              <a:t>© Copyright : Centre for Computational Technologies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25FE1254-CF9A-3DA2-C2E5-8D5658531587}"/>
              </a:ext>
            </a:extLst>
          </p:cNvPr>
          <p:cNvSpPr/>
          <p:nvPr/>
        </p:nvSpPr>
        <p:spPr>
          <a:xfrm>
            <a:off x="10425961" y="6385511"/>
            <a:ext cx="1401345" cy="26160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100" b="0" i="0" u="none" strike="noStrike" kern="1200" cap="none" spc="0" baseline="0">
                <a:solidFill>
                  <a:srgbClr val="166FA9"/>
                </a:solidFill>
                <a:uFillTx/>
                <a:latin typeface="Poppins" pitchFamily="2"/>
                <a:ea typeface="Lato" pitchFamily="34"/>
                <a:cs typeface="Poppins" pitchFamily="2"/>
              </a:rPr>
              <a:t>www.cctech.co.in</a:t>
            </a:r>
          </a:p>
        </p:txBody>
      </p:sp>
      <p:sp>
        <p:nvSpPr>
          <p:cNvPr id="11" name="Rectangle 14">
            <a:hlinkClick r:id="rId2"/>
            <a:extLst>
              <a:ext uri="{FF2B5EF4-FFF2-40B4-BE49-F238E27FC236}">
                <a16:creationId xmlns:a16="http://schemas.microsoft.com/office/drawing/2014/main" id="{FED75C58-61F9-7DD5-354D-94E5F1727215}"/>
              </a:ext>
            </a:extLst>
          </p:cNvPr>
          <p:cNvSpPr/>
          <p:nvPr/>
        </p:nvSpPr>
        <p:spPr>
          <a:xfrm>
            <a:off x="10512527" y="6445797"/>
            <a:ext cx="1235637" cy="17786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400" b="0" i="0" u="none" strike="noStrike" kern="1200" cap="none" spc="0" baseline="0">
              <a:solidFill>
                <a:srgbClr val="FFFFFF"/>
              </a:solidFill>
              <a:uFillTx/>
              <a:latin typeface="Poppins" pitchFamily="2"/>
              <a:cs typeface="Poppins" pitchFamily="2"/>
            </a:endParaRPr>
          </a:p>
        </p:txBody>
      </p:sp>
      <p:sp>
        <p:nvSpPr>
          <p:cNvPr id="12" name="Right Triangle 1">
            <a:extLst>
              <a:ext uri="{FF2B5EF4-FFF2-40B4-BE49-F238E27FC236}">
                <a16:creationId xmlns:a16="http://schemas.microsoft.com/office/drawing/2014/main" id="{C9CFE069-03B2-7492-A203-38A780C476DF}"/>
              </a:ext>
            </a:extLst>
          </p:cNvPr>
          <p:cNvSpPr/>
          <p:nvPr/>
        </p:nvSpPr>
        <p:spPr>
          <a:xfrm flipH="1" flipV="1">
            <a:off x="11619436" y="0"/>
            <a:ext cx="572569" cy="57256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360"/>
              <a:gd name="f8" fmla="+- 0 0 -180"/>
              <a:gd name="f9" fmla="+- 0 0 -90"/>
              <a:gd name="f10" fmla="abs f3"/>
              <a:gd name="f11" fmla="abs f4"/>
              <a:gd name="f12" fmla="abs f5"/>
              <a:gd name="f13" fmla="val f6"/>
              <a:gd name="f14" fmla="*/ f7 f0 1"/>
              <a:gd name="f15" fmla="*/ f8 f0 1"/>
              <a:gd name="f16" fmla="*/ f9 f0 1"/>
              <a:gd name="f17" fmla="?: f10 f3 1"/>
              <a:gd name="f18" fmla="?: f11 f4 1"/>
              <a:gd name="f19" fmla="?: f12 f5 1"/>
              <a:gd name="f20" fmla="*/ f14 1 f2"/>
              <a:gd name="f21" fmla="*/ f15 1 f2"/>
              <a:gd name="f22" fmla="*/ f16 1 f2"/>
              <a:gd name="f23" fmla="*/ f17 1 21600"/>
              <a:gd name="f24" fmla="*/ f18 1 21600"/>
              <a:gd name="f25" fmla="*/ 21600 f17 1"/>
              <a:gd name="f26" fmla="*/ 21600 f18 1"/>
              <a:gd name="f27" fmla="+- f20 0 f1"/>
              <a:gd name="f28" fmla="+- f21 0 f1"/>
              <a:gd name="f29" fmla="+- f22 0 f1"/>
              <a:gd name="f30" fmla="min f24 f23"/>
              <a:gd name="f31" fmla="*/ f25 1 f19"/>
              <a:gd name="f32" fmla="*/ f26 1 f19"/>
              <a:gd name="f33" fmla="val f31"/>
              <a:gd name="f34" fmla="val f32"/>
              <a:gd name="f35" fmla="*/ f13 f30 1"/>
              <a:gd name="f36" fmla="+- f34 0 f13"/>
              <a:gd name="f37" fmla="+- f33 0 f13"/>
              <a:gd name="f38" fmla="*/ f34 f30 1"/>
              <a:gd name="f39" fmla="*/ f33 f30 1"/>
              <a:gd name="f40" fmla="*/ f36 1 2"/>
              <a:gd name="f41" fmla="*/ f37 1 2"/>
              <a:gd name="f42" fmla="*/ f37 1 12"/>
              <a:gd name="f43" fmla="*/ f36 7 1"/>
              <a:gd name="f44" fmla="*/ f37 7 1"/>
              <a:gd name="f45" fmla="*/ f36 11 1"/>
              <a:gd name="f46" fmla="+- f13 f40 0"/>
              <a:gd name="f47" fmla="+- f13 f41 0"/>
              <a:gd name="f48" fmla="*/ f43 1 12"/>
              <a:gd name="f49" fmla="*/ f44 1 12"/>
              <a:gd name="f50" fmla="*/ f45 1 12"/>
              <a:gd name="f51" fmla="*/ f42 f30 1"/>
              <a:gd name="f52" fmla="*/ f48 f30 1"/>
              <a:gd name="f53" fmla="*/ f49 f30 1"/>
              <a:gd name="f54" fmla="*/ f50 f30 1"/>
              <a:gd name="f55" fmla="*/ f47 f30 1"/>
              <a:gd name="f56" fmla="*/ f46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35" y="f35"/>
              </a:cxn>
              <a:cxn ang="f28">
                <a:pos x="f35" y="f38"/>
              </a:cxn>
              <a:cxn ang="f28">
                <a:pos x="f39" y="f38"/>
              </a:cxn>
              <a:cxn ang="f29">
                <a:pos x="f55" y="f56"/>
              </a:cxn>
            </a:cxnLst>
            <a:rect l="f51" t="f52" r="f53" b="f54"/>
            <a:pathLst>
              <a:path>
                <a:moveTo>
                  <a:pt x="f35" y="f38"/>
                </a:moveTo>
                <a:lnTo>
                  <a:pt x="f35" y="f35"/>
                </a:lnTo>
                <a:lnTo>
                  <a:pt x="f39" y="f38"/>
                </a:lnTo>
                <a:close/>
              </a:path>
            </a:pathLst>
          </a:custGeom>
          <a:solidFill>
            <a:srgbClr val="E77817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860303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415B2B5-F55B-D5B4-E75F-E5057BD7B06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5601" y="1116016"/>
            <a:ext cx="5524503" cy="573091"/>
          </a:xfrm>
          <a:solidFill>
            <a:srgbClr val="DEEBF7"/>
          </a:solidFill>
        </p:spPr>
        <p:txBody>
          <a:bodyPr anchor="b"/>
          <a:lstStyle>
            <a:lvl1pPr marL="0" indent="0">
              <a:buNone/>
              <a:defRPr sz="2000" b="1">
                <a:ea typeface="Lato" pitchFamily="34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7101265-8074-1E80-37BB-5F7554ABF9F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172200" y="1084258"/>
            <a:ext cx="5524503" cy="595310"/>
          </a:xfrm>
          <a:solidFill>
            <a:srgbClr val="DEEBF7"/>
          </a:solidFill>
        </p:spPr>
        <p:txBody>
          <a:bodyPr anchor="b"/>
          <a:lstStyle>
            <a:lvl1pPr marL="0" indent="0">
              <a:buNone/>
              <a:defRPr sz="2000" b="1">
                <a:ea typeface="Lato" pitchFamily="34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3DDDEC0-84C4-814B-5AA1-A1D07D8200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5601" y="231772"/>
            <a:ext cx="11341102" cy="57498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>
                <a:solidFill>
                  <a:srgbClr val="366B9D"/>
                </a:solidFill>
                <a:ea typeface="Lato" pitchFamily="34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5BB62FF-A0C3-3792-621C-780198204C3E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55601" y="1727201"/>
            <a:ext cx="5524503" cy="4051020"/>
          </a:xfrm>
        </p:spPr>
        <p:txBody>
          <a:bodyPr/>
          <a:lstStyle>
            <a:lvl1pPr marL="444498" indent="-444498">
              <a:buClr>
                <a:srgbClr val="000000"/>
              </a:buClr>
              <a:buFont typeface="Lato" pitchFamily="34"/>
              <a:buChar char="—"/>
              <a:defRPr sz="2000">
                <a:ea typeface="Lato" pitchFamily="34"/>
              </a:defRPr>
            </a:lvl1pPr>
            <a:lvl2pPr marL="812801" indent="-355601">
              <a:buClr>
                <a:srgbClr val="404040"/>
              </a:buClr>
              <a:buFont typeface="Lato" pitchFamily="34"/>
              <a:buChar char="—"/>
              <a:defRPr sz="1800">
                <a:ea typeface="Lato" pitchFamily="34"/>
              </a:defRPr>
            </a:lvl2pPr>
            <a:lvl3pPr marL="1257300" indent="-342900">
              <a:buClr>
                <a:srgbClr val="7F7F7F"/>
              </a:buClr>
              <a:buFont typeface="Lato" pitchFamily="34"/>
              <a:buChar char="—"/>
              <a:defRPr sz="1600">
                <a:ea typeface="Lato" pitchFamily="34"/>
              </a:defRPr>
            </a:lvl3pPr>
            <a:lvl4pPr>
              <a:buClr>
                <a:srgbClr val="7F7F7F"/>
              </a:buClr>
              <a:buFont typeface="Lato" pitchFamily="34"/>
              <a:buChar char="—"/>
              <a:defRPr sz="1400">
                <a:ea typeface="Lato" pitchFamily="34"/>
              </a:defRPr>
            </a:lvl4pPr>
            <a:lvl5pPr>
              <a:buClr>
                <a:srgbClr val="A6A6A6"/>
              </a:buClr>
              <a:buFont typeface="Lato" pitchFamily="34"/>
              <a:buChar char="—"/>
              <a:defRPr sz="1400">
                <a:ea typeface="Lato" pitchFamily="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592120B-44BB-2F41-17DE-888B9E97ACC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172200" y="1708154"/>
            <a:ext cx="5524503" cy="4070076"/>
          </a:xfrm>
        </p:spPr>
        <p:txBody>
          <a:bodyPr/>
          <a:lstStyle>
            <a:lvl1pPr marL="444498" indent="-444498">
              <a:buClr>
                <a:srgbClr val="000000"/>
              </a:buClr>
              <a:buFont typeface="Lato" pitchFamily="34"/>
              <a:buChar char="—"/>
              <a:defRPr sz="2000">
                <a:ea typeface="Lato" pitchFamily="34"/>
              </a:defRPr>
            </a:lvl1pPr>
            <a:lvl2pPr marL="812801" indent="-355601">
              <a:buClr>
                <a:srgbClr val="404040"/>
              </a:buClr>
              <a:buFont typeface="Lato" pitchFamily="34"/>
              <a:buChar char="—"/>
              <a:defRPr sz="1800">
                <a:ea typeface="Lato" pitchFamily="34"/>
              </a:defRPr>
            </a:lvl2pPr>
            <a:lvl3pPr marL="1257300" indent="-342900">
              <a:buClr>
                <a:srgbClr val="7F7F7F"/>
              </a:buClr>
              <a:buFont typeface="Lato" pitchFamily="34"/>
              <a:buChar char="—"/>
              <a:defRPr sz="1600">
                <a:ea typeface="Lato" pitchFamily="34"/>
              </a:defRPr>
            </a:lvl3pPr>
            <a:lvl4pPr>
              <a:buClr>
                <a:srgbClr val="7F7F7F"/>
              </a:buClr>
              <a:buFont typeface="Lato" pitchFamily="34"/>
              <a:buChar char="—"/>
              <a:defRPr sz="1400">
                <a:ea typeface="Lato" pitchFamily="34"/>
              </a:defRPr>
            </a:lvl4pPr>
            <a:lvl5pPr>
              <a:buClr>
                <a:srgbClr val="A6A6A6"/>
              </a:buClr>
              <a:buFont typeface="Lato" pitchFamily="34"/>
              <a:buChar char="—"/>
              <a:defRPr sz="1400">
                <a:ea typeface="Lato" pitchFamily="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27">
            <a:extLst>
              <a:ext uri="{FF2B5EF4-FFF2-40B4-BE49-F238E27FC236}">
                <a16:creationId xmlns:a16="http://schemas.microsoft.com/office/drawing/2014/main" id="{7B5F693B-51E0-D6C3-DBE3-5C10CA5B1543}"/>
              </a:ext>
            </a:extLst>
          </p:cNvPr>
          <p:cNvSpPr/>
          <p:nvPr/>
        </p:nvSpPr>
        <p:spPr>
          <a:xfrm>
            <a:off x="0" y="5939366"/>
            <a:ext cx="12191996" cy="918633"/>
          </a:xfrm>
          <a:prstGeom prst="rect">
            <a:avLst/>
          </a:prstGeom>
          <a:solidFill>
            <a:srgbClr val="EEEEF0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cxnSp>
        <p:nvCxnSpPr>
          <p:cNvPr id="8" name="Straight Connector 28">
            <a:extLst>
              <a:ext uri="{FF2B5EF4-FFF2-40B4-BE49-F238E27FC236}">
                <a16:creationId xmlns:a16="http://schemas.microsoft.com/office/drawing/2014/main" id="{985C6755-627E-94FC-EDFE-22F342C867F6}"/>
              </a:ext>
            </a:extLst>
          </p:cNvPr>
          <p:cNvCxnSpPr/>
          <p:nvPr/>
        </p:nvCxnSpPr>
        <p:spPr>
          <a:xfrm>
            <a:off x="-12701" y="5939366"/>
            <a:ext cx="12204697" cy="0"/>
          </a:xfrm>
          <a:prstGeom prst="straightConnector1">
            <a:avLst/>
          </a:prstGeom>
          <a:noFill/>
          <a:ln w="6345" cap="flat">
            <a:solidFill>
              <a:srgbClr val="A6A6A6"/>
            </a:solidFill>
            <a:prstDash val="solid"/>
            <a:miter/>
          </a:ln>
        </p:spPr>
      </p:cxn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421A6AF-CB94-78C0-F1F1-901CAD571BB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5861047" y="6211894"/>
            <a:ext cx="469901" cy="365129"/>
          </a:xfrm>
        </p:spPr>
        <p:txBody>
          <a:bodyPr/>
          <a:lstStyle>
            <a:lvl1pPr>
              <a:defRPr sz="1050">
                <a:ea typeface="Lato" pitchFamily="34"/>
              </a:defRPr>
            </a:lvl1pPr>
          </a:lstStyle>
          <a:p>
            <a:pPr lvl="0"/>
            <a:fld id="{0FA5F1AE-FDF1-481C-9453-9AD401B6865F}" type="slidenum">
              <a:t>‹#›</a:t>
            </a:fld>
            <a:endParaRPr lang="en-IN"/>
          </a:p>
        </p:txBody>
      </p:sp>
      <p:pic>
        <p:nvPicPr>
          <p:cNvPr id="10" name="Picture 36">
            <a:hlinkClick r:id="rId2"/>
            <a:extLst>
              <a:ext uri="{FF2B5EF4-FFF2-40B4-BE49-F238E27FC236}">
                <a16:creationId xmlns:a16="http://schemas.microsoft.com/office/drawing/2014/main" id="{A54964EA-2D14-91F4-76DE-28E556021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59" y="6146733"/>
            <a:ext cx="568802" cy="5045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3">
            <a:extLst>
              <a:ext uri="{FF2B5EF4-FFF2-40B4-BE49-F238E27FC236}">
                <a16:creationId xmlns:a16="http://schemas.microsoft.com/office/drawing/2014/main" id="{966C6884-BB8D-4955-A971-2C134721BFBB}"/>
              </a:ext>
            </a:extLst>
          </p:cNvPr>
          <p:cNvSpPr txBox="1"/>
          <p:nvPr/>
        </p:nvSpPr>
        <p:spPr>
          <a:xfrm>
            <a:off x="7889104" y="6193304"/>
            <a:ext cx="3921267" cy="261609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100" b="0" i="0" u="none" strike="noStrike" kern="1200" cap="none" spc="0" baseline="0">
                <a:solidFill>
                  <a:srgbClr val="595959"/>
                </a:solidFill>
                <a:uFillTx/>
                <a:latin typeface="Poppins" pitchFamily="2"/>
                <a:ea typeface="Lato" pitchFamily="34"/>
                <a:cs typeface="Poppins" pitchFamily="2"/>
              </a:rPr>
              <a:t>© Copyright : Centre for Computational Technologies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52F8DF0A-4EDA-7028-EB9A-2C13AB4BA732}"/>
              </a:ext>
            </a:extLst>
          </p:cNvPr>
          <p:cNvSpPr/>
          <p:nvPr/>
        </p:nvSpPr>
        <p:spPr>
          <a:xfrm>
            <a:off x="10425961" y="6385511"/>
            <a:ext cx="1401345" cy="26160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100" b="0" i="0" u="none" strike="noStrike" kern="1200" cap="none" spc="0" baseline="0">
                <a:solidFill>
                  <a:srgbClr val="166FA9"/>
                </a:solidFill>
                <a:uFillTx/>
                <a:latin typeface="Poppins" pitchFamily="2"/>
                <a:ea typeface="Lato" pitchFamily="34"/>
                <a:cs typeface="Poppins" pitchFamily="2"/>
              </a:rPr>
              <a:t>www.cctech.co.in</a:t>
            </a:r>
          </a:p>
        </p:txBody>
      </p:sp>
      <p:sp>
        <p:nvSpPr>
          <p:cNvPr id="13" name="Rectangle 15">
            <a:hlinkClick r:id="rId2"/>
            <a:extLst>
              <a:ext uri="{FF2B5EF4-FFF2-40B4-BE49-F238E27FC236}">
                <a16:creationId xmlns:a16="http://schemas.microsoft.com/office/drawing/2014/main" id="{A485DFD1-1CE1-DF74-15B0-880054FC98D7}"/>
              </a:ext>
            </a:extLst>
          </p:cNvPr>
          <p:cNvSpPr/>
          <p:nvPr/>
        </p:nvSpPr>
        <p:spPr>
          <a:xfrm>
            <a:off x="10512527" y="6445797"/>
            <a:ext cx="1235637" cy="17786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400" b="0" i="0" u="none" strike="noStrike" kern="1200" cap="none" spc="0" baseline="0">
              <a:solidFill>
                <a:srgbClr val="FFFFFF"/>
              </a:solidFill>
              <a:uFillTx/>
              <a:latin typeface="Poppins" pitchFamily="2"/>
              <a:cs typeface="Poppins" pitchFamily="2"/>
            </a:endParaRPr>
          </a:p>
        </p:txBody>
      </p:sp>
      <p:sp>
        <p:nvSpPr>
          <p:cNvPr id="14" name="Right Triangle 1">
            <a:extLst>
              <a:ext uri="{FF2B5EF4-FFF2-40B4-BE49-F238E27FC236}">
                <a16:creationId xmlns:a16="http://schemas.microsoft.com/office/drawing/2014/main" id="{A1081273-E348-B6BA-8D42-B26C76B9ADAD}"/>
              </a:ext>
            </a:extLst>
          </p:cNvPr>
          <p:cNvSpPr/>
          <p:nvPr/>
        </p:nvSpPr>
        <p:spPr>
          <a:xfrm flipH="1" flipV="1">
            <a:off x="11619436" y="0"/>
            <a:ext cx="572569" cy="57256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360"/>
              <a:gd name="f8" fmla="+- 0 0 -180"/>
              <a:gd name="f9" fmla="+- 0 0 -90"/>
              <a:gd name="f10" fmla="abs f3"/>
              <a:gd name="f11" fmla="abs f4"/>
              <a:gd name="f12" fmla="abs f5"/>
              <a:gd name="f13" fmla="val f6"/>
              <a:gd name="f14" fmla="*/ f7 f0 1"/>
              <a:gd name="f15" fmla="*/ f8 f0 1"/>
              <a:gd name="f16" fmla="*/ f9 f0 1"/>
              <a:gd name="f17" fmla="?: f10 f3 1"/>
              <a:gd name="f18" fmla="?: f11 f4 1"/>
              <a:gd name="f19" fmla="?: f12 f5 1"/>
              <a:gd name="f20" fmla="*/ f14 1 f2"/>
              <a:gd name="f21" fmla="*/ f15 1 f2"/>
              <a:gd name="f22" fmla="*/ f16 1 f2"/>
              <a:gd name="f23" fmla="*/ f17 1 21600"/>
              <a:gd name="f24" fmla="*/ f18 1 21600"/>
              <a:gd name="f25" fmla="*/ 21600 f17 1"/>
              <a:gd name="f26" fmla="*/ 21600 f18 1"/>
              <a:gd name="f27" fmla="+- f20 0 f1"/>
              <a:gd name="f28" fmla="+- f21 0 f1"/>
              <a:gd name="f29" fmla="+- f22 0 f1"/>
              <a:gd name="f30" fmla="min f24 f23"/>
              <a:gd name="f31" fmla="*/ f25 1 f19"/>
              <a:gd name="f32" fmla="*/ f26 1 f19"/>
              <a:gd name="f33" fmla="val f31"/>
              <a:gd name="f34" fmla="val f32"/>
              <a:gd name="f35" fmla="*/ f13 f30 1"/>
              <a:gd name="f36" fmla="+- f34 0 f13"/>
              <a:gd name="f37" fmla="+- f33 0 f13"/>
              <a:gd name="f38" fmla="*/ f34 f30 1"/>
              <a:gd name="f39" fmla="*/ f33 f30 1"/>
              <a:gd name="f40" fmla="*/ f36 1 2"/>
              <a:gd name="f41" fmla="*/ f37 1 2"/>
              <a:gd name="f42" fmla="*/ f37 1 12"/>
              <a:gd name="f43" fmla="*/ f36 7 1"/>
              <a:gd name="f44" fmla="*/ f37 7 1"/>
              <a:gd name="f45" fmla="*/ f36 11 1"/>
              <a:gd name="f46" fmla="+- f13 f40 0"/>
              <a:gd name="f47" fmla="+- f13 f41 0"/>
              <a:gd name="f48" fmla="*/ f43 1 12"/>
              <a:gd name="f49" fmla="*/ f44 1 12"/>
              <a:gd name="f50" fmla="*/ f45 1 12"/>
              <a:gd name="f51" fmla="*/ f42 f30 1"/>
              <a:gd name="f52" fmla="*/ f48 f30 1"/>
              <a:gd name="f53" fmla="*/ f49 f30 1"/>
              <a:gd name="f54" fmla="*/ f50 f30 1"/>
              <a:gd name="f55" fmla="*/ f47 f30 1"/>
              <a:gd name="f56" fmla="*/ f46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35" y="f35"/>
              </a:cxn>
              <a:cxn ang="f28">
                <a:pos x="f35" y="f38"/>
              </a:cxn>
              <a:cxn ang="f28">
                <a:pos x="f39" y="f38"/>
              </a:cxn>
              <a:cxn ang="f29">
                <a:pos x="f55" y="f56"/>
              </a:cxn>
            </a:cxnLst>
            <a:rect l="f51" t="f52" r="f53" b="f54"/>
            <a:pathLst>
              <a:path>
                <a:moveTo>
                  <a:pt x="f35" y="f38"/>
                </a:moveTo>
                <a:lnTo>
                  <a:pt x="f35" y="f35"/>
                </a:lnTo>
                <a:lnTo>
                  <a:pt x="f39" y="f38"/>
                </a:lnTo>
                <a:close/>
              </a:path>
            </a:pathLst>
          </a:custGeom>
          <a:solidFill>
            <a:srgbClr val="E77817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2045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CA456-6961-C471-3D57-87C7F135E5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5601" y="1084258"/>
            <a:ext cx="4073523" cy="973131"/>
          </a:xfrm>
          <a:solidFill>
            <a:srgbClr val="DEEBF7"/>
          </a:solidFill>
        </p:spPr>
        <p:txBody>
          <a:bodyPr anchor="b"/>
          <a:lstStyle>
            <a:lvl1pPr>
              <a:defRPr sz="2400">
                <a:ea typeface="Lato" pitchFamily="34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9A19F36-ED71-665D-130C-FA34892FE4E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5601" y="2057400"/>
            <a:ext cx="4073523" cy="3706712"/>
          </a:xfrm>
        </p:spPr>
        <p:txBody>
          <a:bodyPr/>
          <a:lstStyle>
            <a:lvl1pPr marL="0" indent="0">
              <a:buNone/>
              <a:defRPr sz="1400">
                <a:ea typeface="Lato" pitchFamily="34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9D9EF1B-646A-8898-1804-0A61FAADE82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83184" y="1104896"/>
            <a:ext cx="6513508" cy="4640598"/>
          </a:xfrm>
        </p:spPr>
        <p:txBody>
          <a:bodyPr/>
          <a:lstStyle>
            <a:lvl1pPr marL="444498" indent="-444498">
              <a:buClr>
                <a:srgbClr val="000000"/>
              </a:buClr>
              <a:buFont typeface="Lato" pitchFamily="34"/>
              <a:buChar char="—"/>
              <a:defRPr sz="2000">
                <a:ea typeface="Lato" pitchFamily="34"/>
              </a:defRPr>
            </a:lvl1pPr>
            <a:lvl2pPr marL="812801" indent="-355601">
              <a:buClr>
                <a:srgbClr val="404040"/>
              </a:buClr>
              <a:buFont typeface="Lato" pitchFamily="34"/>
              <a:buChar char="—"/>
              <a:defRPr sz="1800">
                <a:ea typeface="Lato" pitchFamily="34"/>
              </a:defRPr>
            </a:lvl2pPr>
            <a:lvl3pPr marL="1257300" indent="-342900">
              <a:buClr>
                <a:srgbClr val="7F7F7F"/>
              </a:buClr>
              <a:buFont typeface="Lato" pitchFamily="34"/>
              <a:buChar char="—"/>
              <a:defRPr sz="1600">
                <a:ea typeface="Lato" pitchFamily="34"/>
              </a:defRPr>
            </a:lvl3pPr>
            <a:lvl4pPr>
              <a:buClr>
                <a:srgbClr val="7F7F7F"/>
              </a:buClr>
              <a:buFont typeface="Lato" pitchFamily="34"/>
              <a:buChar char="—"/>
              <a:defRPr sz="1400">
                <a:ea typeface="Lato" pitchFamily="34"/>
              </a:defRPr>
            </a:lvl4pPr>
            <a:lvl5pPr>
              <a:buClr>
                <a:srgbClr val="A6A6A6"/>
              </a:buClr>
              <a:buFont typeface="Lato" pitchFamily="34"/>
              <a:buChar char="—"/>
              <a:defRPr sz="1400">
                <a:ea typeface="Lato" pitchFamily="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DD22B4-B99A-ECBE-40A3-A38C47B7DD28}"/>
              </a:ext>
            </a:extLst>
          </p:cNvPr>
          <p:cNvSpPr txBox="1"/>
          <p:nvPr/>
        </p:nvSpPr>
        <p:spPr>
          <a:xfrm>
            <a:off x="355601" y="231772"/>
            <a:ext cx="11341102" cy="57498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366B9D"/>
                </a:solidFill>
                <a:uFillTx/>
                <a:latin typeface="Poppins" pitchFamily="2"/>
                <a:ea typeface="Lato" pitchFamily="34"/>
                <a:cs typeface="Poppins" pitchFamily="2"/>
              </a:rPr>
              <a:t>CLICK TO EDIT MASTER TITLE STYLE</a:t>
            </a:r>
            <a:endParaRPr lang="en-IN" sz="2000" b="0" i="0" u="none" strike="noStrike" kern="1200" cap="none" spc="0" baseline="0">
              <a:solidFill>
                <a:srgbClr val="366B9D"/>
              </a:solidFill>
              <a:uFillTx/>
              <a:latin typeface="Poppins" pitchFamily="2"/>
              <a:ea typeface="Lato" pitchFamily="34"/>
              <a:cs typeface="Poppins" pitchFamily="2"/>
            </a:endParaRPr>
          </a:p>
        </p:txBody>
      </p:sp>
      <p:sp>
        <p:nvSpPr>
          <p:cNvPr id="6" name="Rectangle 27">
            <a:extLst>
              <a:ext uri="{FF2B5EF4-FFF2-40B4-BE49-F238E27FC236}">
                <a16:creationId xmlns:a16="http://schemas.microsoft.com/office/drawing/2014/main" id="{E09B54FC-30E8-16CD-4869-F6A3B85035A4}"/>
              </a:ext>
            </a:extLst>
          </p:cNvPr>
          <p:cNvSpPr/>
          <p:nvPr/>
        </p:nvSpPr>
        <p:spPr>
          <a:xfrm>
            <a:off x="0" y="5939366"/>
            <a:ext cx="12191996" cy="918633"/>
          </a:xfrm>
          <a:prstGeom prst="rect">
            <a:avLst/>
          </a:prstGeom>
          <a:solidFill>
            <a:srgbClr val="EEEEF0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600" b="0" i="0" u="none" strike="noStrike" kern="1200" cap="none" spc="0" baseline="0">
              <a:solidFill>
                <a:srgbClr val="FFFFFF"/>
              </a:solidFill>
              <a:uFillTx/>
              <a:latin typeface="Poppins" pitchFamily="2"/>
              <a:cs typeface="Poppins" pitchFamily="2"/>
            </a:endParaRPr>
          </a:p>
        </p:txBody>
      </p:sp>
      <p:cxnSp>
        <p:nvCxnSpPr>
          <p:cNvPr id="7" name="Straight Connector 28">
            <a:extLst>
              <a:ext uri="{FF2B5EF4-FFF2-40B4-BE49-F238E27FC236}">
                <a16:creationId xmlns:a16="http://schemas.microsoft.com/office/drawing/2014/main" id="{14A2EE22-CC27-617D-DF9D-85EBE11B9FB2}"/>
              </a:ext>
            </a:extLst>
          </p:cNvPr>
          <p:cNvCxnSpPr/>
          <p:nvPr/>
        </p:nvCxnSpPr>
        <p:spPr>
          <a:xfrm>
            <a:off x="-12701" y="5939366"/>
            <a:ext cx="12204697" cy="0"/>
          </a:xfrm>
          <a:prstGeom prst="straightConnector1">
            <a:avLst/>
          </a:prstGeom>
          <a:noFill/>
          <a:ln w="6345" cap="flat">
            <a:solidFill>
              <a:srgbClr val="A6A6A6"/>
            </a:solidFill>
            <a:prstDash val="solid"/>
            <a:miter/>
          </a:ln>
        </p:spPr>
      </p:cxn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B1C5EB4-3F4E-6F95-5096-F9EB4305A8F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5861047" y="6211894"/>
            <a:ext cx="469901" cy="365129"/>
          </a:xfrm>
        </p:spPr>
        <p:txBody>
          <a:bodyPr/>
          <a:lstStyle>
            <a:lvl1pPr>
              <a:defRPr sz="1050">
                <a:ea typeface="Lato" pitchFamily="34"/>
              </a:defRPr>
            </a:lvl1pPr>
          </a:lstStyle>
          <a:p>
            <a:pPr lvl="0"/>
            <a:fld id="{ADE6631D-AFB1-4E59-B98C-2C634723B3AD}" type="slidenum">
              <a:t>‹#›</a:t>
            </a:fld>
            <a:endParaRPr lang="en-IN"/>
          </a:p>
        </p:txBody>
      </p:sp>
      <p:pic>
        <p:nvPicPr>
          <p:cNvPr id="9" name="Picture 33">
            <a:hlinkClick r:id="rId2"/>
            <a:extLst>
              <a:ext uri="{FF2B5EF4-FFF2-40B4-BE49-F238E27FC236}">
                <a16:creationId xmlns:a16="http://schemas.microsoft.com/office/drawing/2014/main" id="{C2AF11F4-159D-F556-FA0A-8F18CA335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59" y="6146733"/>
            <a:ext cx="568802" cy="50458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12">
            <a:extLst>
              <a:ext uri="{FF2B5EF4-FFF2-40B4-BE49-F238E27FC236}">
                <a16:creationId xmlns:a16="http://schemas.microsoft.com/office/drawing/2014/main" id="{8BFA7C5C-C2C5-F6A5-8E28-292EB1C427B2}"/>
              </a:ext>
            </a:extLst>
          </p:cNvPr>
          <p:cNvSpPr txBox="1"/>
          <p:nvPr/>
        </p:nvSpPr>
        <p:spPr>
          <a:xfrm>
            <a:off x="7889104" y="6193304"/>
            <a:ext cx="3921267" cy="261609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100" b="0" i="0" u="none" strike="noStrike" kern="1200" cap="none" spc="0" baseline="0">
                <a:solidFill>
                  <a:srgbClr val="595959"/>
                </a:solidFill>
                <a:uFillTx/>
                <a:latin typeface="Poppins" pitchFamily="2"/>
                <a:ea typeface="Lato" pitchFamily="34"/>
                <a:cs typeface="Poppins" pitchFamily="2"/>
              </a:rPr>
              <a:t>© Copyright : Centre for Computational Technologies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3DEE6A83-AB3A-9107-0D1B-CB281BF66A1E}"/>
              </a:ext>
            </a:extLst>
          </p:cNvPr>
          <p:cNvSpPr/>
          <p:nvPr/>
        </p:nvSpPr>
        <p:spPr>
          <a:xfrm>
            <a:off x="10425961" y="6385511"/>
            <a:ext cx="1401345" cy="26160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100" b="0" i="0" u="none" strike="noStrike" kern="1200" cap="none" spc="0" baseline="0">
                <a:solidFill>
                  <a:srgbClr val="166FA9"/>
                </a:solidFill>
                <a:uFillTx/>
                <a:latin typeface="Poppins" pitchFamily="2"/>
                <a:ea typeface="Lato" pitchFamily="34"/>
                <a:cs typeface="Poppins" pitchFamily="2"/>
              </a:rPr>
              <a:t>www.cctech.co.in</a:t>
            </a:r>
          </a:p>
        </p:txBody>
      </p:sp>
      <p:sp>
        <p:nvSpPr>
          <p:cNvPr id="12" name="Rectangle 15">
            <a:hlinkClick r:id="rId2"/>
            <a:extLst>
              <a:ext uri="{FF2B5EF4-FFF2-40B4-BE49-F238E27FC236}">
                <a16:creationId xmlns:a16="http://schemas.microsoft.com/office/drawing/2014/main" id="{7BC8BA8F-FB9B-917A-97A2-87D521CF9AD7}"/>
              </a:ext>
            </a:extLst>
          </p:cNvPr>
          <p:cNvSpPr/>
          <p:nvPr/>
        </p:nvSpPr>
        <p:spPr>
          <a:xfrm>
            <a:off x="10512527" y="6445797"/>
            <a:ext cx="1235637" cy="17786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400" b="0" i="0" u="none" strike="noStrike" kern="1200" cap="none" spc="0" baseline="0">
              <a:solidFill>
                <a:srgbClr val="FFFFFF"/>
              </a:solidFill>
              <a:uFillTx/>
              <a:latin typeface="Poppins" pitchFamily="2"/>
              <a:cs typeface="Poppins" pitchFamily="2"/>
            </a:endParaRPr>
          </a:p>
        </p:txBody>
      </p:sp>
      <p:sp>
        <p:nvSpPr>
          <p:cNvPr id="13" name="Right Triangle 2">
            <a:extLst>
              <a:ext uri="{FF2B5EF4-FFF2-40B4-BE49-F238E27FC236}">
                <a16:creationId xmlns:a16="http://schemas.microsoft.com/office/drawing/2014/main" id="{C9B8B553-2727-C4B2-2618-AEFC3A20DF8F}"/>
              </a:ext>
            </a:extLst>
          </p:cNvPr>
          <p:cNvSpPr/>
          <p:nvPr/>
        </p:nvSpPr>
        <p:spPr>
          <a:xfrm flipH="1" flipV="1">
            <a:off x="11619436" y="0"/>
            <a:ext cx="572569" cy="57256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360"/>
              <a:gd name="f8" fmla="+- 0 0 -180"/>
              <a:gd name="f9" fmla="+- 0 0 -90"/>
              <a:gd name="f10" fmla="abs f3"/>
              <a:gd name="f11" fmla="abs f4"/>
              <a:gd name="f12" fmla="abs f5"/>
              <a:gd name="f13" fmla="val f6"/>
              <a:gd name="f14" fmla="*/ f7 f0 1"/>
              <a:gd name="f15" fmla="*/ f8 f0 1"/>
              <a:gd name="f16" fmla="*/ f9 f0 1"/>
              <a:gd name="f17" fmla="?: f10 f3 1"/>
              <a:gd name="f18" fmla="?: f11 f4 1"/>
              <a:gd name="f19" fmla="?: f12 f5 1"/>
              <a:gd name="f20" fmla="*/ f14 1 f2"/>
              <a:gd name="f21" fmla="*/ f15 1 f2"/>
              <a:gd name="f22" fmla="*/ f16 1 f2"/>
              <a:gd name="f23" fmla="*/ f17 1 21600"/>
              <a:gd name="f24" fmla="*/ f18 1 21600"/>
              <a:gd name="f25" fmla="*/ 21600 f17 1"/>
              <a:gd name="f26" fmla="*/ 21600 f18 1"/>
              <a:gd name="f27" fmla="+- f20 0 f1"/>
              <a:gd name="f28" fmla="+- f21 0 f1"/>
              <a:gd name="f29" fmla="+- f22 0 f1"/>
              <a:gd name="f30" fmla="min f24 f23"/>
              <a:gd name="f31" fmla="*/ f25 1 f19"/>
              <a:gd name="f32" fmla="*/ f26 1 f19"/>
              <a:gd name="f33" fmla="val f31"/>
              <a:gd name="f34" fmla="val f32"/>
              <a:gd name="f35" fmla="*/ f13 f30 1"/>
              <a:gd name="f36" fmla="+- f34 0 f13"/>
              <a:gd name="f37" fmla="+- f33 0 f13"/>
              <a:gd name="f38" fmla="*/ f34 f30 1"/>
              <a:gd name="f39" fmla="*/ f33 f30 1"/>
              <a:gd name="f40" fmla="*/ f36 1 2"/>
              <a:gd name="f41" fmla="*/ f37 1 2"/>
              <a:gd name="f42" fmla="*/ f37 1 12"/>
              <a:gd name="f43" fmla="*/ f36 7 1"/>
              <a:gd name="f44" fmla="*/ f37 7 1"/>
              <a:gd name="f45" fmla="*/ f36 11 1"/>
              <a:gd name="f46" fmla="+- f13 f40 0"/>
              <a:gd name="f47" fmla="+- f13 f41 0"/>
              <a:gd name="f48" fmla="*/ f43 1 12"/>
              <a:gd name="f49" fmla="*/ f44 1 12"/>
              <a:gd name="f50" fmla="*/ f45 1 12"/>
              <a:gd name="f51" fmla="*/ f42 f30 1"/>
              <a:gd name="f52" fmla="*/ f48 f30 1"/>
              <a:gd name="f53" fmla="*/ f49 f30 1"/>
              <a:gd name="f54" fmla="*/ f50 f30 1"/>
              <a:gd name="f55" fmla="*/ f47 f30 1"/>
              <a:gd name="f56" fmla="*/ f46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35" y="f35"/>
              </a:cxn>
              <a:cxn ang="f28">
                <a:pos x="f35" y="f38"/>
              </a:cxn>
              <a:cxn ang="f28">
                <a:pos x="f39" y="f38"/>
              </a:cxn>
              <a:cxn ang="f29">
                <a:pos x="f55" y="f56"/>
              </a:cxn>
            </a:cxnLst>
            <a:rect l="f51" t="f52" r="f53" b="f54"/>
            <a:pathLst>
              <a:path>
                <a:moveTo>
                  <a:pt x="f35" y="f38"/>
                </a:moveTo>
                <a:lnTo>
                  <a:pt x="f35" y="f35"/>
                </a:lnTo>
                <a:lnTo>
                  <a:pt x="f39" y="f38"/>
                </a:lnTo>
                <a:close/>
              </a:path>
            </a:pathLst>
          </a:custGeom>
          <a:solidFill>
            <a:srgbClr val="E77817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74418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F9348ADC-FA3E-56D4-906D-F7D3AE605E6B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5183184" y="1089022"/>
            <a:ext cx="6513508" cy="4656472"/>
          </a:xfrm>
        </p:spPr>
        <p:txBody>
          <a:bodyPr/>
          <a:lstStyle>
            <a:lvl1pPr marL="0" indent="0">
              <a:buNone/>
              <a:defRPr lang="en-IN" sz="2800"/>
            </a:lvl1pPr>
          </a:lstStyle>
          <a:p>
            <a:pPr lvl="0"/>
            <a:endParaRPr lang="en-IN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0A981D2-DF7F-7140-C523-7A8AAEC2A3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5601" y="1084258"/>
            <a:ext cx="4073523" cy="973131"/>
          </a:xfrm>
          <a:solidFill>
            <a:srgbClr val="DEEBF7"/>
          </a:solidFill>
        </p:spPr>
        <p:txBody>
          <a:bodyPr anchor="b"/>
          <a:lstStyle>
            <a:lvl1pPr>
              <a:defRPr sz="2400">
                <a:ea typeface="Lato" pitchFamily="34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36BE5-6F61-DC99-97B9-E92F95A9E59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5601" y="2057400"/>
            <a:ext cx="4073523" cy="3706712"/>
          </a:xfrm>
        </p:spPr>
        <p:txBody>
          <a:bodyPr/>
          <a:lstStyle>
            <a:lvl1pPr marL="0" indent="0">
              <a:buNone/>
              <a:defRPr sz="1400">
                <a:ea typeface="Lato" pitchFamily="34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B6651C6-33AB-320D-65F6-8C9048CDB132}"/>
              </a:ext>
            </a:extLst>
          </p:cNvPr>
          <p:cNvSpPr txBox="1"/>
          <p:nvPr/>
        </p:nvSpPr>
        <p:spPr>
          <a:xfrm>
            <a:off x="355601" y="231772"/>
            <a:ext cx="11341102" cy="57498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366B9D"/>
                </a:solidFill>
                <a:uFillTx/>
                <a:latin typeface="Poppins" pitchFamily="2"/>
                <a:ea typeface="Lato" pitchFamily="34"/>
                <a:cs typeface="Poppins" pitchFamily="2"/>
              </a:rPr>
              <a:t>CLICK TO EDIT MASTER TITLE STYLE</a:t>
            </a:r>
            <a:endParaRPr lang="en-IN" sz="2000" b="0" i="0" u="none" strike="noStrike" kern="1200" cap="none" spc="0" baseline="0">
              <a:solidFill>
                <a:srgbClr val="366B9D"/>
              </a:solidFill>
              <a:uFillTx/>
              <a:latin typeface="Poppins" pitchFamily="2"/>
              <a:ea typeface="Lato" pitchFamily="34"/>
              <a:cs typeface="Poppins" pitchFamily="2"/>
            </a:endParaRPr>
          </a:p>
        </p:txBody>
      </p:sp>
      <p:sp>
        <p:nvSpPr>
          <p:cNvPr id="6" name="Rectangle 27">
            <a:extLst>
              <a:ext uri="{FF2B5EF4-FFF2-40B4-BE49-F238E27FC236}">
                <a16:creationId xmlns:a16="http://schemas.microsoft.com/office/drawing/2014/main" id="{34928FB0-46F5-7DDB-1EBF-6505C2F5E749}"/>
              </a:ext>
            </a:extLst>
          </p:cNvPr>
          <p:cNvSpPr/>
          <p:nvPr/>
        </p:nvSpPr>
        <p:spPr>
          <a:xfrm>
            <a:off x="0" y="5939366"/>
            <a:ext cx="12191996" cy="918633"/>
          </a:xfrm>
          <a:prstGeom prst="rect">
            <a:avLst/>
          </a:prstGeom>
          <a:solidFill>
            <a:srgbClr val="EEEEF0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600" b="0" i="0" u="none" strike="noStrike" kern="1200" cap="none" spc="0" baseline="0">
              <a:solidFill>
                <a:srgbClr val="FFFFFF"/>
              </a:solidFill>
              <a:uFillTx/>
              <a:latin typeface="Poppins" pitchFamily="2"/>
              <a:cs typeface="Poppins" pitchFamily="2"/>
            </a:endParaRPr>
          </a:p>
        </p:txBody>
      </p:sp>
      <p:cxnSp>
        <p:nvCxnSpPr>
          <p:cNvPr id="7" name="Straight Connector 28">
            <a:extLst>
              <a:ext uri="{FF2B5EF4-FFF2-40B4-BE49-F238E27FC236}">
                <a16:creationId xmlns:a16="http://schemas.microsoft.com/office/drawing/2014/main" id="{58423FE6-C21F-91EB-9840-FAF704F00D7B}"/>
              </a:ext>
            </a:extLst>
          </p:cNvPr>
          <p:cNvCxnSpPr/>
          <p:nvPr/>
        </p:nvCxnSpPr>
        <p:spPr>
          <a:xfrm>
            <a:off x="-12701" y="5939366"/>
            <a:ext cx="12204697" cy="0"/>
          </a:xfrm>
          <a:prstGeom prst="straightConnector1">
            <a:avLst/>
          </a:prstGeom>
          <a:noFill/>
          <a:ln w="6345" cap="flat">
            <a:solidFill>
              <a:srgbClr val="A6A6A6"/>
            </a:solidFill>
            <a:prstDash val="solid"/>
            <a:miter/>
          </a:ln>
        </p:spPr>
      </p:cxn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873E177-7447-602D-6B7A-17A7E3BC9BF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5861047" y="6211894"/>
            <a:ext cx="469901" cy="365129"/>
          </a:xfrm>
        </p:spPr>
        <p:txBody>
          <a:bodyPr/>
          <a:lstStyle>
            <a:lvl1pPr>
              <a:defRPr sz="1050">
                <a:ea typeface="Lato" pitchFamily="34"/>
              </a:defRPr>
            </a:lvl1pPr>
          </a:lstStyle>
          <a:p>
            <a:pPr lvl="0"/>
            <a:fld id="{71BD08AA-557D-4127-977A-250CAF85D75C}" type="slidenum">
              <a:t>‹#›</a:t>
            </a:fld>
            <a:endParaRPr lang="en-IN"/>
          </a:p>
        </p:txBody>
      </p:sp>
      <p:pic>
        <p:nvPicPr>
          <p:cNvPr id="9" name="Picture 33">
            <a:hlinkClick r:id="rId2"/>
            <a:extLst>
              <a:ext uri="{FF2B5EF4-FFF2-40B4-BE49-F238E27FC236}">
                <a16:creationId xmlns:a16="http://schemas.microsoft.com/office/drawing/2014/main" id="{38301E85-700D-1F8E-9F30-0FB1B13E5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59" y="6146733"/>
            <a:ext cx="568802" cy="50458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12">
            <a:extLst>
              <a:ext uri="{FF2B5EF4-FFF2-40B4-BE49-F238E27FC236}">
                <a16:creationId xmlns:a16="http://schemas.microsoft.com/office/drawing/2014/main" id="{282FB06B-36DE-4317-D148-44FED25FD5EA}"/>
              </a:ext>
            </a:extLst>
          </p:cNvPr>
          <p:cNvSpPr txBox="1"/>
          <p:nvPr/>
        </p:nvSpPr>
        <p:spPr>
          <a:xfrm>
            <a:off x="7889104" y="6193304"/>
            <a:ext cx="3921267" cy="261609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100" b="0" i="0" u="none" strike="noStrike" kern="1200" cap="none" spc="0" baseline="0">
                <a:solidFill>
                  <a:srgbClr val="595959"/>
                </a:solidFill>
                <a:uFillTx/>
                <a:latin typeface="Poppins" pitchFamily="2"/>
                <a:ea typeface="Lato" pitchFamily="34"/>
                <a:cs typeface="Poppins" pitchFamily="2"/>
              </a:rPr>
              <a:t>© Copyright : Centre for Computational Technologies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2DE33412-806E-205C-1C2B-E7E3438DE0C9}"/>
              </a:ext>
            </a:extLst>
          </p:cNvPr>
          <p:cNvSpPr/>
          <p:nvPr/>
        </p:nvSpPr>
        <p:spPr>
          <a:xfrm>
            <a:off x="10425961" y="6385511"/>
            <a:ext cx="1401345" cy="26160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100" b="0" i="0" u="none" strike="noStrike" kern="1200" cap="none" spc="0" baseline="0">
                <a:solidFill>
                  <a:srgbClr val="166FA9"/>
                </a:solidFill>
                <a:uFillTx/>
                <a:latin typeface="Poppins" pitchFamily="2"/>
                <a:ea typeface="Lato" pitchFamily="34"/>
                <a:cs typeface="Poppins" pitchFamily="2"/>
              </a:rPr>
              <a:t>www.cctech.co.in</a:t>
            </a:r>
          </a:p>
        </p:txBody>
      </p:sp>
      <p:sp>
        <p:nvSpPr>
          <p:cNvPr id="12" name="Rectangle 14">
            <a:hlinkClick r:id="rId2"/>
            <a:extLst>
              <a:ext uri="{FF2B5EF4-FFF2-40B4-BE49-F238E27FC236}">
                <a16:creationId xmlns:a16="http://schemas.microsoft.com/office/drawing/2014/main" id="{9C118E11-B13E-4E4C-712C-324BB3F7490B}"/>
              </a:ext>
            </a:extLst>
          </p:cNvPr>
          <p:cNvSpPr/>
          <p:nvPr/>
        </p:nvSpPr>
        <p:spPr>
          <a:xfrm>
            <a:off x="10512527" y="6445797"/>
            <a:ext cx="1235637" cy="17786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N" sz="1400" b="0" i="0" u="none" strike="noStrike" kern="1200" cap="none" spc="0" baseline="0">
              <a:solidFill>
                <a:srgbClr val="FFFFFF"/>
              </a:solidFill>
              <a:uFillTx/>
              <a:latin typeface="Poppins" pitchFamily="2"/>
              <a:cs typeface="Poppins" pitchFamily="2"/>
            </a:endParaRPr>
          </a:p>
        </p:txBody>
      </p:sp>
      <p:sp>
        <p:nvSpPr>
          <p:cNvPr id="13" name="Right Triangle 2">
            <a:extLst>
              <a:ext uri="{FF2B5EF4-FFF2-40B4-BE49-F238E27FC236}">
                <a16:creationId xmlns:a16="http://schemas.microsoft.com/office/drawing/2014/main" id="{31CC44EB-4B2F-88D8-DD5F-8FC71EBF469F}"/>
              </a:ext>
            </a:extLst>
          </p:cNvPr>
          <p:cNvSpPr/>
          <p:nvPr/>
        </p:nvSpPr>
        <p:spPr>
          <a:xfrm flipH="1" flipV="1">
            <a:off x="11619436" y="0"/>
            <a:ext cx="572569" cy="57256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360"/>
              <a:gd name="f8" fmla="+- 0 0 -180"/>
              <a:gd name="f9" fmla="+- 0 0 -90"/>
              <a:gd name="f10" fmla="abs f3"/>
              <a:gd name="f11" fmla="abs f4"/>
              <a:gd name="f12" fmla="abs f5"/>
              <a:gd name="f13" fmla="val f6"/>
              <a:gd name="f14" fmla="*/ f7 f0 1"/>
              <a:gd name="f15" fmla="*/ f8 f0 1"/>
              <a:gd name="f16" fmla="*/ f9 f0 1"/>
              <a:gd name="f17" fmla="?: f10 f3 1"/>
              <a:gd name="f18" fmla="?: f11 f4 1"/>
              <a:gd name="f19" fmla="?: f12 f5 1"/>
              <a:gd name="f20" fmla="*/ f14 1 f2"/>
              <a:gd name="f21" fmla="*/ f15 1 f2"/>
              <a:gd name="f22" fmla="*/ f16 1 f2"/>
              <a:gd name="f23" fmla="*/ f17 1 21600"/>
              <a:gd name="f24" fmla="*/ f18 1 21600"/>
              <a:gd name="f25" fmla="*/ 21600 f17 1"/>
              <a:gd name="f26" fmla="*/ 21600 f18 1"/>
              <a:gd name="f27" fmla="+- f20 0 f1"/>
              <a:gd name="f28" fmla="+- f21 0 f1"/>
              <a:gd name="f29" fmla="+- f22 0 f1"/>
              <a:gd name="f30" fmla="min f24 f23"/>
              <a:gd name="f31" fmla="*/ f25 1 f19"/>
              <a:gd name="f32" fmla="*/ f26 1 f19"/>
              <a:gd name="f33" fmla="val f31"/>
              <a:gd name="f34" fmla="val f32"/>
              <a:gd name="f35" fmla="*/ f13 f30 1"/>
              <a:gd name="f36" fmla="+- f34 0 f13"/>
              <a:gd name="f37" fmla="+- f33 0 f13"/>
              <a:gd name="f38" fmla="*/ f34 f30 1"/>
              <a:gd name="f39" fmla="*/ f33 f30 1"/>
              <a:gd name="f40" fmla="*/ f36 1 2"/>
              <a:gd name="f41" fmla="*/ f37 1 2"/>
              <a:gd name="f42" fmla="*/ f37 1 12"/>
              <a:gd name="f43" fmla="*/ f36 7 1"/>
              <a:gd name="f44" fmla="*/ f37 7 1"/>
              <a:gd name="f45" fmla="*/ f36 11 1"/>
              <a:gd name="f46" fmla="+- f13 f40 0"/>
              <a:gd name="f47" fmla="+- f13 f41 0"/>
              <a:gd name="f48" fmla="*/ f43 1 12"/>
              <a:gd name="f49" fmla="*/ f44 1 12"/>
              <a:gd name="f50" fmla="*/ f45 1 12"/>
              <a:gd name="f51" fmla="*/ f42 f30 1"/>
              <a:gd name="f52" fmla="*/ f48 f30 1"/>
              <a:gd name="f53" fmla="*/ f49 f30 1"/>
              <a:gd name="f54" fmla="*/ f50 f30 1"/>
              <a:gd name="f55" fmla="*/ f47 f30 1"/>
              <a:gd name="f56" fmla="*/ f46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7">
                <a:pos x="f35" y="f35"/>
              </a:cxn>
              <a:cxn ang="f28">
                <a:pos x="f35" y="f38"/>
              </a:cxn>
              <a:cxn ang="f28">
                <a:pos x="f39" y="f38"/>
              </a:cxn>
              <a:cxn ang="f29">
                <a:pos x="f55" y="f56"/>
              </a:cxn>
            </a:cxnLst>
            <a:rect l="f51" t="f52" r="f53" b="f54"/>
            <a:pathLst>
              <a:path>
                <a:moveTo>
                  <a:pt x="f35" y="f38"/>
                </a:moveTo>
                <a:lnTo>
                  <a:pt x="f35" y="f35"/>
                </a:lnTo>
                <a:lnTo>
                  <a:pt x="f39" y="f38"/>
                </a:lnTo>
                <a:close/>
              </a:path>
            </a:pathLst>
          </a:custGeom>
          <a:solidFill>
            <a:srgbClr val="E77817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417779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699073-53FE-A967-7D1D-B77CC34ED9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9096" y="365129"/>
            <a:ext cx="11341102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9D459-EDE9-FD01-19FC-E4A80AAA60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9096" y="1825627"/>
            <a:ext cx="11341102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ABB3E-FDFA-C355-D111-8A5CE0699F0B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393704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100" b="0" i="0" u="none" strike="noStrike" kern="1200" cap="none" spc="0" baseline="0">
                <a:solidFill>
                  <a:srgbClr val="898989"/>
                </a:solidFill>
                <a:uFillTx/>
                <a:latin typeface="Poppins" pitchFamily="2"/>
                <a:cs typeface="Poppins" pitchFamily="2"/>
              </a:defRPr>
            </a:lvl1pPr>
          </a:lstStyle>
          <a:p>
            <a:pPr lvl="0"/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A586977-400D-5453-3C38-3940508D62D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5861047" y="6356351"/>
            <a:ext cx="469901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N" sz="1100" b="0" i="0" u="none" strike="noStrike" kern="1200" cap="none" spc="0" baseline="0">
                <a:solidFill>
                  <a:srgbClr val="898989"/>
                </a:solidFill>
                <a:uFillTx/>
                <a:latin typeface="Poppins" pitchFamily="2"/>
                <a:cs typeface="Poppins" pitchFamily="2"/>
              </a:defRPr>
            </a:lvl1pPr>
          </a:lstStyle>
          <a:p>
            <a:pPr lvl="0"/>
            <a:fld id="{E4863722-F84A-4733-A3F0-8F395CDF0251}" type="slidenum"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000" b="0" i="0" u="none" strike="noStrike" kern="1200" cap="none" spc="0" baseline="0">
          <a:solidFill>
            <a:srgbClr val="000000"/>
          </a:solidFill>
          <a:uFillTx/>
          <a:latin typeface="Poppins" pitchFamily="2"/>
          <a:cs typeface="Poppins" pitchFamily="2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Poppins" pitchFamily="2"/>
          <a:cs typeface="Poppins" pitchFamily="2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Poppins" pitchFamily="2"/>
          <a:cs typeface="Poppins" pitchFamily="2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Poppins" pitchFamily="2"/>
          <a:cs typeface="Poppins" pitchFamily="2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600" b="0" i="0" u="none" strike="noStrike" kern="1200" cap="none" spc="0" baseline="0">
          <a:solidFill>
            <a:srgbClr val="000000"/>
          </a:solidFill>
          <a:uFillTx/>
          <a:latin typeface="Poppins" pitchFamily="2"/>
          <a:cs typeface="Poppins" pitchFamily="2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600" b="0" i="0" u="none" strike="noStrike" kern="1200" cap="none" spc="0" baseline="0">
          <a:solidFill>
            <a:srgbClr val="000000"/>
          </a:solidFill>
          <a:uFillTx/>
          <a:latin typeface="Poppins" pitchFamily="2"/>
          <a:cs typeface="Poppins" pitchFamily="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9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9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Poppins"/>
                <a:cs typeface="Poppins"/>
              </a:rPr>
              <a:t>Problem Statement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A8172-0660-0085-F8D4-10AC79A6DCC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049DC460-44E5-4B92-8A56-747FC2EA5C9A}" type="slidenum">
              <a:t>3</a:t>
            </a:fld>
            <a:endParaRPr lang="en-IN"/>
          </a:p>
        </p:txBody>
      </p:sp>
      <p:sp>
        <p:nvSpPr>
          <p:cNvPr id="5" name="Rounded Rectangle 4"/>
          <p:cNvSpPr/>
          <p:nvPr/>
        </p:nvSpPr>
        <p:spPr>
          <a:xfrm>
            <a:off x="384048" y="1143000"/>
            <a:ext cx="1691640" cy="740664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44546A"/>
                </a:solidFill>
                <a:latin typeface="Poppins"/>
              </a:rPr>
              <a:t>User asks in plain English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12264" y="1426464"/>
            <a:ext cx="137160" cy="182880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0" y="1143000"/>
            <a:ext cx="1691640" cy="740664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44546A"/>
                </a:solidFill>
                <a:latin typeface="Poppins"/>
              </a:rPr>
              <a:t>React UI sends it to /chat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14215" y="1426464"/>
            <a:ext cx="137160" cy="182880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87952" y="1143000"/>
            <a:ext cx="1691640" cy="740664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44546A"/>
                </a:solidFill>
                <a:latin typeface="Poppins"/>
              </a:rPr>
              <a:t>Agent reads the question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16168" y="1426464"/>
            <a:ext cx="137160" cy="182880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89904" y="1143000"/>
            <a:ext cx="1691640" cy="740664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44546A"/>
                </a:solidFill>
                <a:latin typeface="Poppins"/>
              </a:rPr>
              <a:t>Agent picks the right tool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18119" y="1426464"/>
            <a:ext cx="137160" cy="182880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91856" y="1143000"/>
            <a:ext cx="1691640" cy="740664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44546A"/>
                </a:solidFill>
                <a:latin typeface="Poppins"/>
              </a:rPr>
              <a:t>Tool returns real data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720072" y="1426464"/>
            <a:ext cx="137160" cy="182880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93808" y="1143000"/>
            <a:ext cx="1691640" cy="7406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D7D31"/>
            </a:solidFill>
            <a:prstDash val="dash"/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ED7D31"/>
                </a:solidFill>
                <a:latin typeface="Poppins"/>
              </a:rPr>
              <a:t>Clear answer with numbers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" y="2450592"/>
            <a:ext cx="11375136" cy="10972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606040"/>
            <a:ext cx="113842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44546A"/>
                </a:solidFill>
                <a:latin typeface="Calibri"/>
              </a:rPr>
              <a:t>Goal: </a:t>
            </a:r>
            <a:r>
              <a:rPr sz="1600" b="0" i="0">
                <a:solidFill>
                  <a:srgbClr val="44546A"/>
                </a:solidFill>
                <a:latin typeface="Calibri"/>
              </a:rPr>
              <a:t>one chat window that answers both history and forecast questions from real data, not from the LLM's memory.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291840"/>
            <a:ext cx="3566160" cy="219456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B5D5A7"/>
              </a:gs>
              <a:gs pos="100000">
                <a:srgbClr val="AACE99"/>
              </a:gs>
            </a:gsLst>
            <a:lin scaled="0" ang="16200000"/>
          </a:gradFill>
          <a:ln w="9525">
            <a:solidFill>
              <a:srgbClr val="70AD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7" y="342900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600" b="1" i="0">
                <a:solidFill>
                  <a:srgbClr val="44546A"/>
                </a:solidFill>
                <a:latin typeface="Calibri"/>
              </a:rPr>
              <a:t>Past Weather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886200"/>
            <a:ext cx="3200400" cy="14630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"How hot was Delhi in May 2024?"
Answered from 10+ years of daily records, turned into a searchable knowledge base.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5696" y="3291840"/>
            <a:ext cx="3566160" cy="219456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B5D5A7"/>
              </a:gs>
              <a:gs pos="100000">
                <a:srgbClr val="AACE99"/>
              </a:gs>
            </a:gsLst>
            <a:lin scaled="0" ang="16200000"/>
          </a:gradFill>
          <a:ln w="9525">
            <a:solidFill>
              <a:srgbClr val="70AD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62856" y="342900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600" b="1" i="0">
                <a:solidFill>
                  <a:srgbClr val="44546A"/>
                </a:solidFill>
                <a:latin typeface="Calibri"/>
              </a:rPr>
              <a:t>7-Day Forecast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8576" y="3886200"/>
            <a:ext cx="3200400" cy="14630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Maximum temperature for the next 7 days for Delhi, Pune and Kolkata, from an LSTM model I trained.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67344" y="3291840"/>
            <a:ext cx="3566160" cy="219456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B5D5A7"/>
              </a:gs>
              <a:gs pos="100000">
                <a:srgbClr val="AACE99"/>
              </a:gs>
            </a:gsLst>
            <a:lin scaled="0" ang="16200000"/>
          </a:gradFill>
          <a:ln w="9525">
            <a:solidFill>
              <a:srgbClr val="70AD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04504" y="342900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600" b="1" i="0">
                <a:solidFill>
                  <a:srgbClr val="44546A"/>
                </a:solidFill>
                <a:latin typeface="Calibri"/>
              </a:rPr>
              <a:t>Any Other City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0224" y="3886200"/>
            <a:ext cx="3200400" cy="14630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For cities outside the training data, the agent finds the location and calls the Open-Meteo forecast API.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Poppins"/>
                <a:cs typeface="Poppins"/>
              </a:rPr>
              <a:t>Overall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A8172-0660-0085-F8D4-10AC79A6DCC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049DC460-44E5-4B92-8A56-747FC2EA5C9A}" type="slidenum">
              <a:t>4</a:t>
            </a:fld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320040" y="1298448"/>
            <a:ext cx="114300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5B9BD5"/>
                </a:solidFill>
                <a:latin typeface="Poppins"/>
              </a:rPr>
              <a:t>TRAIN</a:t>
            </a:r>
          </a:p>
          <a:p>
            <a:pPr algn="l"/>
            <a:r>
              <a:rPr sz="1100" b="0" i="0">
                <a:solidFill>
                  <a:srgbClr val="44546A"/>
                </a:solidFill>
                <a:latin typeface="Calibri"/>
              </a:rPr>
              <a:t>GitHub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898648"/>
            <a:ext cx="114300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5B9BD5"/>
                </a:solidFill>
                <a:latin typeface="Poppins"/>
              </a:rPr>
              <a:t>SHIP</a:t>
            </a:r>
          </a:p>
          <a:p>
            <a:pPr algn="l"/>
            <a:r>
              <a:rPr sz="1100" b="0" i="0">
                <a:solidFill>
                  <a:srgbClr val="44546A"/>
                </a:solidFill>
                <a:latin typeface="Calibri"/>
              </a:rPr>
              <a:t>GitHub Actions +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453128"/>
            <a:ext cx="114300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5B9BD5"/>
                </a:solidFill>
                <a:latin typeface="Poppins"/>
              </a:rPr>
              <a:t>SERVE</a:t>
            </a:r>
          </a:p>
          <a:p>
            <a:pPr algn="l"/>
            <a:r>
              <a:rPr sz="1100" b="0" i="0">
                <a:solidFill>
                  <a:srgbClr val="44546A"/>
                </a:solidFill>
                <a:latin typeface="Calibri"/>
              </a:rPr>
              <a:t>Vercel + AWS EC2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08760" y="1188720"/>
            <a:ext cx="1463040" cy="777240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100" b="1" i="0">
                <a:solidFill>
                  <a:srgbClr val="44546A"/>
                </a:solidFill>
                <a:latin typeface="Poppins"/>
              </a:rPr>
              <a:t>Open-Meteo archive API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40380" y="1485900"/>
            <a:ext cx="137160" cy="182880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46120" y="1188720"/>
            <a:ext cx="1463040" cy="777240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100" b="1" i="0">
                <a:solidFill>
                  <a:srgbClr val="44546A"/>
                </a:solidFill>
                <a:latin typeface="Poppins"/>
              </a:rPr>
              <a:t>Fetch data (8 cities)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77740" y="1485900"/>
            <a:ext cx="137160" cy="182880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83479" y="1188720"/>
            <a:ext cx="1463040" cy="777240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100" b="1" i="0">
                <a:solidFill>
                  <a:srgbClr val="44546A"/>
                </a:solidFill>
                <a:latin typeface="Poppins"/>
              </a:rPr>
              <a:t>Train LSTM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515099" y="1485900"/>
            <a:ext cx="137160" cy="182880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20840" y="1188720"/>
            <a:ext cx="1463040" cy="777240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100" b="1" i="0">
                <a:solidFill>
                  <a:srgbClr val="44546A"/>
                </a:solidFill>
                <a:latin typeface="Poppins"/>
              </a:rPr>
              <a:t>Quality gate (7 checks)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252459" y="1485900"/>
            <a:ext cx="137160" cy="182880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58200" y="1188720"/>
            <a:ext cx="1463040" cy="777240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100" b="1" i="0">
                <a:solidFill>
                  <a:srgbClr val="44546A"/>
                </a:solidFill>
                <a:latin typeface="Poppins"/>
              </a:rPr>
              <a:t>AWS S3 latest_model/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08760" y="2788920"/>
            <a:ext cx="1463040" cy="777240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100" b="1" i="0">
                <a:solidFill>
                  <a:srgbClr val="44546A"/>
                </a:solidFill>
                <a:latin typeface="Poppins"/>
              </a:rPr>
              <a:t>Push or training done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040380" y="3086099"/>
            <a:ext cx="137160" cy="182880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46120" y="2788920"/>
            <a:ext cx="1463040" cy="777240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100" b="1" i="0">
                <a:solidFill>
                  <a:srgbClr val="44546A"/>
                </a:solidFill>
                <a:latin typeface="Poppins"/>
              </a:rPr>
              <a:t>Docker build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777740" y="3086099"/>
            <a:ext cx="137160" cy="182880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983479" y="2788920"/>
            <a:ext cx="1463040" cy="777240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100" b="1" i="0">
                <a:solidFill>
                  <a:srgbClr val="44546A"/>
                </a:solidFill>
                <a:latin typeface="Poppins"/>
              </a:rPr>
              <a:t>Docker Hub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515099" y="3086099"/>
            <a:ext cx="137160" cy="182880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20840" y="2788920"/>
            <a:ext cx="1463040" cy="777240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100" b="1" i="0">
                <a:solidFill>
                  <a:srgbClr val="44546A"/>
                </a:solidFill>
                <a:latin typeface="Poppins"/>
              </a:rPr>
              <a:t>EC2 pull and run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08760" y="4343400"/>
            <a:ext cx="1463040" cy="777240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100" b="1" i="0">
                <a:solidFill>
                  <a:srgbClr val="44546A"/>
                </a:solidFill>
                <a:latin typeface="Poppins"/>
              </a:rPr>
              <a:t>User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040380" y="4640580"/>
            <a:ext cx="137160" cy="182880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246120" y="4343400"/>
            <a:ext cx="1463040" cy="777240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100" b="1" i="0">
                <a:solidFill>
                  <a:srgbClr val="44546A"/>
                </a:solidFill>
                <a:latin typeface="Poppins"/>
              </a:rPr>
              <a:t>React UI (Vercel)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777740" y="4640580"/>
            <a:ext cx="137160" cy="182880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983479" y="4343400"/>
            <a:ext cx="1463040" cy="777240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100" b="1" i="0">
                <a:solidFill>
                  <a:srgbClr val="44546A"/>
                </a:solidFill>
                <a:latin typeface="Poppins"/>
              </a:rPr>
              <a:t>Vercel proxy /api/chat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515099" y="4640580"/>
            <a:ext cx="137160" cy="182880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720840" y="4343400"/>
            <a:ext cx="1463040" cy="777240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100" b="1" i="0">
                <a:solidFill>
                  <a:srgbClr val="44546A"/>
                </a:solidFill>
                <a:latin typeface="Poppins"/>
              </a:rPr>
              <a:t>FastAPI /chat (EC2)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252459" y="4640580"/>
            <a:ext cx="137160" cy="182880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58200" y="4343400"/>
            <a:ext cx="1463040" cy="777240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100" b="1" i="0">
                <a:solidFill>
                  <a:srgbClr val="44546A"/>
                </a:solidFill>
                <a:latin typeface="Poppins"/>
              </a:rPr>
              <a:t>LangGraph agent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89720" y="1965960"/>
            <a:ext cx="0" cy="411480"/>
          </a:xfrm>
          <a:prstGeom prst="line">
            <a:avLst/>
          </a:prstGeom>
          <a:ln w="15875">
            <a:solidFill>
              <a:srgbClr val="A5A5A5"/>
            </a:solidFill>
          </a:ln>
        </p:spPr>
      </p:cxnSp>
      <p:cxnSp>
        <p:nvCxnSpPr>
          <p:cNvPr id="34" name="Connector 33"/>
          <p:cNvCxnSpPr/>
          <p:nvPr/>
        </p:nvCxnSpPr>
        <p:spPr>
          <a:xfrm flipH="1">
            <a:off x="3977639" y="2377440"/>
            <a:ext cx="5212081" cy="0"/>
          </a:xfrm>
          <a:prstGeom prst="line">
            <a:avLst/>
          </a:prstGeom>
          <a:ln w="15875">
            <a:solidFill>
              <a:srgbClr val="A5A5A5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3977639" y="2377440"/>
            <a:ext cx="0" cy="41148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</p:cxnSp>
      <p:sp>
        <p:nvSpPr>
          <p:cNvPr id="36" name="TextBox 35"/>
          <p:cNvSpPr txBox="1"/>
          <p:nvPr/>
        </p:nvSpPr>
        <p:spPr>
          <a:xfrm>
            <a:off x="4069079" y="2103120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44546A"/>
                </a:solidFill>
                <a:latin typeface="Calibri"/>
              </a:rPr>
              <a:t>model files pulled at build time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452360" y="3566160"/>
            <a:ext cx="0" cy="77724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</p:cxnSp>
      <p:sp>
        <p:nvSpPr>
          <p:cNvPr id="38" name="TextBox 37"/>
          <p:cNvSpPr txBox="1"/>
          <p:nvPr/>
        </p:nvSpPr>
        <p:spPr>
          <a:xfrm>
            <a:off x="7543800" y="3767328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44546A"/>
                </a:solidFill>
                <a:latin typeface="Calibri"/>
              </a:rPr>
              <a:t>docker run :8000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241280" y="3611880"/>
            <a:ext cx="16002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D7D31"/>
            </a:solidFill>
            <a:prstDash val="dash"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41280" y="3666744"/>
            <a:ext cx="1600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ED7D31"/>
                </a:solidFill>
                <a:latin typeface="Poppins"/>
              </a:rPr>
              <a:t>Agent tools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351007" y="3995928"/>
            <a:ext cx="1380744" cy="384048"/>
          </a:xfrm>
          <a:prstGeom prst="roundRect">
            <a:avLst>
              <a:gd name="adj" fmla="val 20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100" b="1" i="0">
                <a:solidFill>
                  <a:srgbClr val="44546A"/>
                </a:solidFill>
                <a:latin typeface="Poppins"/>
              </a:rPr>
              <a:t>Chroma KB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51007" y="4471416"/>
            <a:ext cx="1380744" cy="384048"/>
          </a:xfrm>
          <a:prstGeom prst="roundRect">
            <a:avLst>
              <a:gd name="adj" fmla="val 20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100" b="1" i="0">
                <a:solidFill>
                  <a:srgbClr val="44546A"/>
                </a:solidFill>
                <a:latin typeface="Poppins"/>
              </a:rPr>
              <a:t>LSTM model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351007" y="4946904"/>
            <a:ext cx="1380744" cy="384048"/>
          </a:xfrm>
          <a:prstGeom prst="roundRect">
            <a:avLst>
              <a:gd name="adj" fmla="val 20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100" b="1" i="0">
                <a:solidFill>
                  <a:srgbClr val="44546A"/>
                </a:solidFill>
                <a:latin typeface="Poppins"/>
              </a:rPr>
              <a:t>Open-Meteo forecast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51007" y="5422392"/>
            <a:ext cx="1380744" cy="384048"/>
          </a:xfrm>
          <a:prstGeom prst="roundRect">
            <a:avLst>
              <a:gd name="adj" fmla="val 20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100" b="1" i="0">
                <a:solidFill>
                  <a:srgbClr val="44546A"/>
                </a:solidFill>
                <a:latin typeface="Poppins"/>
              </a:rPr>
              <a:t>Groq LLM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9994392" y="4640580"/>
            <a:ext cx="365760" cy="182880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4048" y="5623560"/>
            <a:ext cx="95097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44546A"/>
                </a:solidFill>
                <a:latin typeface="Calibri"/>
              </a:rPr>
              <a:t>One Docker image carries everything the backend needs: </a:t>
            </a:r>
            <a:r>
              <a:rPr sz="1200" b="0" i="0">
                <a:solidFill>
                  <a:srgbClr val="44546A"/>
                </a:solidFill>
                <a:latin typeface="Calibri"/>
              </a:rPr>
              <a:t>API code, LSTM model, Chroma vector store and the embedding model. What was tested in the pipeline is exactly what runs on EC2.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Poppins"/>
                <a:cs typeface="Poppins"/>
              </a:rPr>
              <a:t>Forecast Model (LSTM)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A8172-0660-0085-F8D4-10AC79A6DCC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049DC460-44E5-4B92-8A56-747FC2EA5C9A}" type="slidenum">
              <a:t>5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384048" y="1143000"/>
            <a:ext cx="5257800" cy="1325880"/>
          </a:xfrm>
          <a:prstGeom prst="rect">
            <a:avLst/>
          </a:prstGeom>
          <a:solidFill>
            <a:srgbClr val="F0F7ED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4864" cy="13258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61872"/>
            <a:ext cx="493776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44546A"/>
                </a:solidFill>
                <a:latin typeface="Calibri"/>
              </a:rPr>
              <a:t>Read the last 30 days of weather for a city and predict the maximum temperature for each of the next 7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697480"/>
            <a:ext cx="5257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5B9BD5"/>
                </a:solidFill>
                <a:latin typeface="Poppins"/>
              </a:rPr>
              <a:t>Model layers (Keras)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063240"/>
            <a:ext cx="731520" cy="658368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000" b="1" i="0">
                <a:solidFill>
                  <a:srgbClr val="44546A"/>
                </a:solidFill>
                <a:latin typeface="Poppins"/>
              </a:rPr>
              <a:t>Input 30 x 7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143000" y="3310128"/>
            <a:ext cx="118872" cy="164592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89304" y="3063240"/>
            <a:ext cx="731520" cy="658368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000" b="1" i="0">
                <a:solidFill>
                  <a:srgbClr val="44546A"/>
                </a:solidFill>
                <a:latin typeface="Poppins"/>
              </a:rPr>
              <a:t>LSTM 64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048255" y="3310128"/>
            <a:ext cx="118872" cy="164592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94560" y="3063240"/>
            <a:ext cx="731520" cy="658368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000" b="1" i="0">
                <a:solidFill>
                  <a:srgbClr val="44546A"/>
                </a:solidFill>
                <a:latin typeface="Poppins"/>
              </a:rPr>
              <a:t>Drop 0.2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953512" y="3310128"/>
            <a:ext cx="118872" cy="164592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99815" y="3063240"/>
            <a:ext cx="731520" cy="658368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000" b="1" i="0">
                <a:solidFill>
                  <a:srgbClr val="44546A"/>
                </a:solidFill>
                <a:latin typeface="Poppins"/>
              </a:rPr>
              <a:t>LSTM 32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858768" y="3310128"/>
            <a:ext cx="118872" cy="164592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05072" y="3063240"/>
            <a:ext cx="731520" cy="658368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000" b="1" i="0">
                <a:solidFill>
                  <a:srgbClr val="44546A"/>
                </a:solidFill>
                <a:latin typeface="Poppins"/>
              </a:rPr>
              <a:t>Drop 0.2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64024" y="3310128"/>
            <a:ext cx="118872" cy="164592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10328" y="3063240"/>
            <a:ext cx="731520" cy="6583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D7D31"/>
            </a:solidFill>
            <a:prstDash val="dash"/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000" b="1" i="0">
                <a:solidFill>
                  <a:srgbClr val="ED7D31"/>
                </a:solidFill>
                <a:latin typeface="Poppins"/>
              </a:rPr>
              <a:t>Dense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3794760"/>
            <a:ext cx="5257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44546A"/>
                </a:solidFill>
                <a:latin typeface="Calibri"/>
              </a:rPr>
              <a:t>Adam (lr 0.001), MSE loss, early stopping and LR reduction on plateau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6035040" y="1005840"/>
          <a:ext cx="57607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Rectangle 21"/>
          <p:cNvSpPr/>
          <p:nvPr/>
        </p:nvSpPr>
        <p:spPr>
          <a:xfrm>
            <a:off x="356616" y="4434840"/>
            <a:ext cx="11430000" cy="178308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617720"/>
            <a:ext cx="26060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1" i="0">
                <a:solidFill>
                  <a:srgbClr val="44546A"/>
                </a:solidFill>
                <a:latin typeface="Calibri"/>
              </a:rPr>
              <a:t>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983480"/>
            <a:ext cx="260604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0" i="0">
                <a:solidFill>
                  <a:srgbClr val="44546A"/>
                </a:solidFill>
                <a:latin typeface="Calibri"/>
              </a:rPr>
              <a:t>Open-Meteo archive, 8 Indian cities, 2015 to last week, 7 daily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4617720"/>
            <a:ext cx="26060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1" i="0">
                <a:solidFill>
                  <a:srgbClr val="44546A"/>
                </a:solidFill>
                <a:latin typeface="Calibri"/>
              </a:rPr>
              <a:t>WINDOW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983480"/>
            <a:ext cx="260604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0" i="0">
                <a:solidFill>
                  <a:srgbClr val="44546A"/>
                </a:solidFill>
                <a:latin typeface="Calibri"/>
              </a:rPr>
              <a:t>30 days in, 7 days out. One model predicts all 7 days at once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4617720"/>
            <a:ext cx="26060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1" i="0">
                <a:solidFill>
                  <a:srgbClr val="44546A"/>
                </a:solidFill>
                <a:latin typeface="Calibri"/>
              </a:rPr>
              <a:t>SPLIT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983480"/>
            <a:ext cx="260604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0" i="0">
                <a:solidFill>
                  <a:srgbClr val="44546A"/>
                </a:solidFill>
                <a:latin typeface="Calibri"/>
              </a:rPr>
              <a:t>70 / 15 / 15 by date for each city. No shuffling, so no peeking into the future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4617720"/>
            <a:ext cx="26060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1" i="0">
                <a:solidFill>
                  <a:srgbClr val="44546A"/>
                </a:solidFill>
                <a:latin typeface="Calibri"/>
              </a:rPr>
              <a:t>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4983480"/>
            <a:ext cx="260604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0" i="0">
                <a:solidFill>
                  <a:srgbClr val="44546A"/>
                </a:solidFill>
                <a:latin typeface="Calibri"/>
              </a:rPr>
              <a:t>About 10% lower error than the baseline on test data and 12% on unseen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Poppins"/>
                <a:cs typeface="Poppins"/>
              </a:rPr>
              <a:t>RAG Knowledge Base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A8172-0660-0085-F8D4-10AC79A6DCC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049DC460-44E5-4B92-8A56-747FC2EA5C9A}" type="slidenum">
              <a:t>6</a:t>
            </a:fld>
            <a:endParaRPr lang="en-IN"/>
          </a:p>
        </p:txBody>
      </p:sp>
      <p:sp>
        <p:nvSpPr>
          <p:cNvPr id="5" name="Rounded Rectangle 4"/>
          <p:cNvSpPr/>
          <p:nvPr/>
        </p:nvSpPr>
        <p:spPr>
          <a:xfrm>
            <a:off x="384048" y="1143000"/>
            <a:ext cx="1691640" cy="740664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44546A"/>
                </a:solidFill>
                <a:latin typeface="Poppins"/>
              </a:rPr>
              <a:t>Daily weather CSVs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12264" y="1426464"/>
            <a:ext cx="137160" cy="182880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0" y="1143000"/>
            <a:ext cx="1691640" cy="740664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44546A"/>
                </a:solidFill>
                <a:latin typeface="Poppins"/>
              </a:rPr>
              <a:t>Markdown generator (1,416 docs)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14215" y="1426464"/>
            <a:ext cx="137160" cy="182880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87952" y="1143000"/>
            <a:ext cx="1691640" cy="740664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44546A"/>
                </a:solidFill>
                <a:latin typeface="Poppins"/>
              </a:rPr>
              <a:t>Chunking (450 tokens)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16168" y="1426464"/>
            <a:ext cx="137160" cy="182880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89904" y="1143000"/>
            <a:ext cx="1691640" cy="740664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44546A"/>
                </a:solidFill>
                <a:latin typeface="Poppins"/>
              </a:rPr>
              <a:t>Embeddings bge-small (384-d)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18119" y="1426464"/>
            <a:ext cx="137160" cy="182880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91856" y="1143000"/>
            <a:ext cx="1691640" cy="740664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44546A"/>
                </a:solidFill>
                <a:latin typeface="Poppins"/>
              </a:rPr>
              <a:t>Chroma + metadata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720072" y="1426464"/>
            <a:ext cx="137160" cy="182880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93808" y="1143000"/>
            <a:ext cx="1691640" cy="7406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D7D31"/>
            </a:solidFill>
            <a:prstDash val="dash"/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ED7D31"/>
                </a:solidFill>
                <a:latin typeface="Poppins"/>
              </a:rPr>
              <a:t>search_kb tool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" y="2240280"/>
            <a:ext cx="11375136" cy="10972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4048" y="2514600"/>
            <a:ext cx="5577840" cy="3611880"/>
          </a:xfrm>
          <a:prstGeom prst="roundRect">
            <a:avLst>
              <a:gd name="adj" fmla="val 8000"/>
            </a:avLst>
          </a:prstGeom>
          <a:solidFill>
            <a:srgbClr val="DBDBDB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7" y="2633472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Calibri"/>
              </a:rPr>
              <a:t>What is in the knowledge 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154680"/>
            <a:ext cx="5074920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Monthly and seasonal summaries per city and year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Heatwave and cold wave events using IMD thresholds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Records, long-term trends, monsoon and city comparisons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Every file has tags: city, year, month and doc type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514600"/>
            <a:ext cx="5577840" cy="3611880"/>
          </a:xfrm>
          <a:prstGeom prst="roundRect">
            <a:avLst>
              <a:gd name="adj" fmla="val 8000"/>
            </a:avLst>
          </a:prstGeom>
          <a:solidFill>
            <a:srgbClr val="DBDBDB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633472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Calibri"/>
              </a:rPr>
              <a:t>Why metadata filters were needed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154680"/>
            <a:ext cx="5074920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May 2023 and May 2024 summaries read almost the same, so their vectors do too (similarity gap 0.01 to 0.03)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Plain semantic search often returned the wrong year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Fix: filter by city / year / month first, then rank by meaning</a:t>
            </a:r>
          </a:p>
          <a:p>
            <a:pPr algn="l" marL="228600" indent="-22860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fastembed (ONNX) gives the same vectors as PyTorch, startup 16.5 s to 6.5 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Poppins"/>
                <a:cs typeface="Poppins"/>
              </a:rPr>
              <a:t>LangGraph Agent (ReAct Loop)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A8172-0660-0085-F8D4-10AC79A6DCC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049DC460-44E5-4B92-8A56-747FC2EA5C9A}" type="slidenum">
              <a:t>7</a:t>
            </a:fld>
            <a:endParaRPr lang="en-IN"/>
          </a:p>
        </p:txBody>
      </p:sp>
      <p:sp>
        <p:nvSpPr>
          <p:cNvPr id="5" name="Rounded Rectangle 4"/>
          <p:cNvSpPr/>
          <p:nvPr/>
        </p:nvSpPr>
        <p:spPr>
          <a:xfrm>
            <a:off x="1234439" y="114300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44546A"/>
                </a:solidFill>
                <a:latin typeface="Poppins"/>
              </a:rPr>
              <a:t>User message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31720" y="1691640"/>
            <a:ext cx="0" cy="32004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</p:cxnSp>
      <p:sp>
        <p:nvSpPr>
          <p:cNvPr id="7" name="Rounded Rectangle 6"/>
          <p:cNvSpPr/>
          <p:nvPr/>
        </p:nvSpPr>
        <p:spPr>
          <a:xfrm>
            <a:off x="1234439" y="2011680"/>
            <a:ext cx="2194560" cy="7772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44546A"/>
                </a:solidFill>
                <a:latin typeface="Poppins"/>
              </a:rPr>
              <a:t>chatbot node</a:t>
            </a:r>
          </a:p>
          <a:p>
            <a:pPr algn="ctr"/>
            <a:r>
              <a:rPr sz="1100" b="0" i="0">
                <a:solidFill>
                  <a:srgbClr val="44546A"/>
                </a:solidFill>
                <a:latin typeface="Calibri"/>
              </a:rPr>
              <a:t>Groq, gpt-oss-120b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31720" y="2788920"/>
            <a:ext cx="0" cy="32004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</p:cxnSp>
      <p:sp>
        <p:nvSpPr>
          <p:cNvPr id="9" name="Diamond 8"/>
          <p:cNvSpPr/>
          <p:nvPr/>
        </p:nvSpPr>
        <p:spPr>
          <a:xfrm>
            <a:off x="1234439" y="3108960"/>
            <a:ext cx="2194560" cy="10058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44546A"/>
                </a:solidFill>
                <a:latin typeface="Poppins"/>
              </a:rPr>
              <a:t>Tool call?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31720" y="4114800"/>
            <a:ext cx="0" cy="41148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</p:cxnSp>
      <p:sp>
        <p:nvSpPr>
          <p:cNvPr id="11" name="TextBox 10"/>
          <p:cNvSpPr txBox="1"/>
          <p:nvPr/>
        </p:nvSpPr>
        <p:spPr>
          <a:xfrm>
            <a:off x="2404872" y="4133087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44546A"/>
                </a:solidFill>
                <a:latin typeface="Calibri"/>
              </a:rPr>
              <a:t>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39" y="4526280"/>
            <a:ext cx="2194560" cy="5486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D7D31"/>
            </a:solidFill>
            <a:prstDash val="dash"/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ED7D31"/>
                </a:solidFill>
                <a:latin typeface="Poppins"/>
              </a:rPr>
              <a:t>Final answer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29000" y="3611880"/>
            <a:ext cx="502920" cy="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</p:cxnSp>
      <p:sp>
        <p:nvSpPr>
          <p:cNvPr id="14" name="TextBox 13"/>
          <p:cNvSpPr txBox="1"/>
          <p:nvPr/>
        </p:nvSpPr>
        <p:spPr>
          <a:xfrm>
            <a:off x="3474720" y="331012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44546A"/>
                </a:solidFill>
                <a:latin typeface="Calibri"/>
              </a:rPr>
              <a:t>Yes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3246120"/>
            <a:ext cx="1737360" cy="731520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 w="9525">
            <a:solidFill>
              <a:srgbClr val="44546A"/>
            </a:solidFill>
          </a:ln>
        </p:spPr>
        <p:txBody>
          <a:bodyPr rtlCol="0" anchor="ctr" lIns="73152" rIns="73152" tIns="36576" bIns="36576" wrap="square"/>
          <a:lstStyle/>
          <a:p>
            <a:pPr algn="ctr"/>
            <a:r>
              <a:rPr sz="1200" b="1" i="0">
                <a:solidFill>
                  <a:srgbClr val="44546A"/>
                </a:solidFill>
                <a:latin typeface="Poppins"/>
              </a:rPr>
              <a:t>ToolNode</a:t>
            </a:r>
          </a:p>
          <a:p>
            <a:pPr algn="ctr"/>
            <a:r>
              <a:rPr sz="1100" b="0" i="0">
                <a:solidFill>
                  <a:srgbClr val="44546A"/>
                </a:solidFill>
                <a:latin typeface="Calibri"/>
              </a:rPr>
              <a:t>runs the tool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4800600" y="2395728"/>
            <a:ext cx="0" cy="850392"/>
          </a:xfrm>
          <a:prstGeom prst="line">
            <a:avLst/>
          </a:prstGeom>
          <a:ln w="15875">
            <a:solidFill>
              <a:srgbClr val="A5A5A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H="1">
            <a:off x="3429000" y="2395728"/>
            <a:ext cx="1371600" cy="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</p:cxnSp>
      <p:sp>
        <p:nvSpPr>
          <p:cNvPr id="18" name="TextBox 17"/>
          <p:cNvSpPr txBox="1"/>
          <p:nvPr/>
        </p:nvSpPr>
        <p:spPr>
          <a:xfrm>
            <a:off x="3749039" y="210312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44546A"/>
                </a:solidFill>
                <a:latin typeface="Calibri"/>
              </a:rPr>
              <a:t>tool result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5349240"/>
            <a:ext cx="5394960" cy="822960"/>
          </a:xfrm>
          <a:prstGeom prst="rect">
            <a:avLst/>
          </a:prstGeom>
          <a:solidFill>
            <a:srgbClr val="F0F7ED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349240"/>
            <a:ext cx="54864" cy="8229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376672"/>
            <a:ext cx="516636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44546A"/>
                </a:solidFill>
                <a:latin typeface="Calibri"/>
              </a:rPr>
              <a:t>Memory: </a:t>
            </a:r>
            <a:r>
              <a:rPr sz="1200" b="0" i="0">
                <a:solidFill>
                  <a:srgbClr val="44546A"/>
                </a:solidFill>
                <a:latin typeface="Calibri"/>
              </a:rPr>
              <a:t>MemorySaver keeps each chat by thread_id, so follow-up questions work. Today's date is added to the system prompt.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143000"/>
            <a:ext cx="5532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1472184"/>
            <a:ext cx="347472" cy="34747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1234440"/>
            <a:ext cx="470916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libri"/>
              </a:rPr>
              <a:t>search_kb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581912"/>
            <a:ext cx="47091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546A"/>
                </a:solidFill>
                <a:latin typeface="Calibri"/>
              </a:rPr>
              <a:t>Past weather from Chroma, filtered by city, year, month and doc type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2350008"/>
            <a:ext cx="5532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2679192"/>
            <a:ext cx="347472" cy="34747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441448"/>
            <a:ext cx="470916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libri"/>
              </a:rPr>
              <a:t>get_forecast_lstm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788920"/>
            <a:ext cx="47091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546A"/>
                </a:solidFill>
                <a:latin typeface="Calibri"/>
              </a:rPr>
              <a:t>7-day max temperature from our own model for Delhi, Pune and Kolkata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557016"/>
            <a:ext cx="5532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46520" y="3886200"/>
            <a:ext cx="347472" cy="34747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648456"/>
            <a:ext cx="470916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libri"/>
              </a:rPr>
              <a:t>get_forecast_api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995928"/>
            <a:ext cx="47091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546A"/>
                </a:solidFill>
                <a:latin typeface="Calibri"/>
              </a:rPr>
              <a:t>Any city: finds the location by name, then calls the Open-Meteo forecast API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764024"/>
            <a:ext cx="5532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46520" y="5093208"/>
            <a:ext cx="347472" cy="34747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855464"/>
            <a:ext cx="4709160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libri"/>
              </a:rPr>
              <a:t>ask_user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5202936"/>
            <a:ext cx="47091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546A"/>
                </a:solidFill>
                <a:latin typeface="Calibri"/>
              </a:rPr>
              <a:t>Pauses the graph with interrupt() and asks a follow-up when a detail is missing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Poppins"/>
                <a:cs typeface="Poppins"/>
              </a:rPr>
              <a:t>Key Design Decisions and Why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A8172-0660-0085-F8D4-10AC79A6DCC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049DC460-44E5-4B92-8A56-747FC2EA5C9A}" type="slidenum">
              <a:t>8</a:t>
            </a:fld>
            <a:endParaRPr lang="en-IN"/>
          </a:p>
        </p:txBody>
      </p:sp>
      <p:sp>
        <p:nvSpPr>
          <p:cNvPr id="5" name="Rounded Rectangle 4"/>
          <p:cNvSpPr/>
          <p:nvPr/>
        </p:nvSpPr>
        <p:spPr>
          <a:xfrm>
            <a:off x="384048" y="1097280"/>
            <a:ext cx="3657600" cy="22860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B5D5A7"/>
              </a:gs>
              <a:gs pos="100000">
                <a:srgbClr val="AACE99"/>
              </a:gs>
            </a:gsLst>
            <a:lin scaled="0" ang="16200000"/>
          </a:gradFill>
          <a:ln w="9525">
            <a:solidFill>
              <a:srgbClr val="70AD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34439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600" b="1" i="0">
                <a:solidFill>
                  <a:srgbClr val="44546A"/>
                </a:solidFill>
                <a:latin typeface="Calibri"/>
              </a:rPr>
              <a:t>One ReAct agent, not a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91640"/>
            <a:ext cx="329184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With only four tools, one agent choosing tools itself was enough. A router or multi-agent setup adds LLM calls and more places to fail.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1097280"/>
            <a:ext cx="3657600" cy="22860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B5D5A7"/>
              </a:gs>
              <a:gs pos="100000">
                <a:srgbClr val="AACE99"/>
              </a:gs>
            </a:gsLst>
            <a:lin scaled="0" ang="16200000"/>
          </a:gradFill>
          <a:ln w="9525">
            <a:solidFill>
              <a:srgbClr val="70AD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7408" y="1234439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600" b="1" i="0">
                <a:solidFill>
                  <a:srgbClr val="44546A"/>
                </a:solidFill>
                <a:latin typeface="Calibri"/>
              </a:rPr>
              <a:t>Chroma, not pgvector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1691640"/>
            <a:ext cx="329184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About 550 chunks fit easily in a local Chroma folder. No database server to run, and the store ships inside the Docker image.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6448" y="1097280"/>
            <a:ext cx="3657600" cy="22860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B5D5A7"/>
              </a:gs>
              <a:gs pos="100000">
                <a:srgbClr val="AACE99"/>
              </a:gs>
            </a:gsLst>
            <a:lin scaled="0" ang="16200000"/>
          </a:gradFill>
          <a:ln w="9525">
            <a:solidFill>
              <a:srgbClr val="70AD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1234439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600" b="1" i="0">
                <a:solidFill>
                  <a:srgbClr val="44546A"/>
                </a:solidFill>
                <a:latin typeface="Calibri"/>
              </a:rPr>
              <a:t>Filters + semantic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1691640"/>
            <a:ext cx="329184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Monthly documents for different years look almost the same to the embedding model. Filtering first made answers pick the right year.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3657600"/>
            <a:ext cx="3657600" cy="22860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B5D5A7"/>
              </a:gs>
              <a:gs pos="100000">
                <a:srgbClr val="AACE99"/>
              </a:gs>
            </a:gsLst>
            <a:lin scaled="0" ang="16200000"/>
          </a:gradFill>
          <a:ln w="9525">
            <a:solidFill>
              <a:srgbClr val="70AD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7" y="3794760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600" b="1" i="0">
                <a:solidFill>
                  <a:srgbClr val="44546A"/>
                </a:solidFill>
                <a:latin typeface="Calibri"/>
              </a:rPr>
              <a:t>fastembed (ONNX), not PyTorch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251960"/>
            <a:ext cx="329184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Identical vectors (cosine 1.000), no torch in the image, and backend startup dropped from 16.5 s to about 6.5 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0248" y="3657600"/>
            <a:ext cx="3657600" cy="22860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B5D5A7"/>
              </a:gs>
              <a:gs pos="100000">
                <a:srgbClr val="AACE99"/>
              </a:gs>
            </a:gsLst>
            <a:lin scaled="0" ang="16200000"/>
          </a:gradFill>
          <a:ln w="9525">
            <a:solidFill>
              <a:srgbClr val="70AD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3794760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600" b="1" i="0">
                <a:solidFill>
                  <a:srgbClr val="44546A"/>
                </a:solidFill>
                <a:latin typeface="Calibri"/>
              </a:rPr>
              <a:t>Model in S3, baked into image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4251960"/>
            <a:ext cx="329184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Training uploads to S3 and deployment pulls it at build time. Code, model and vector store always travel together.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3657600"/>
            <a:ext cx="3657600" cy="22860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B5D5A7"/>
              </a:gs>
              <a:gs pos="100000">
                <a:srgbClr val="AACE99"/>
              </a:gs>
            </a:gsLst>
            <a:lin scaled="0" ang="16200000"/>
          </a:gradFill>
          <a:ln w="9525">
            <a:solidFill>
              <a:srgbClr val="70AD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3794760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600" b="1" i="0">
                <a:solidFill>
                  <a:srgbClr val="44546A"/>
                </a:solidFill>
                <a:latin typeface="Calibri"/>
              </a:rPr>
              <a:t>GitHub Actions for 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4251960"/>
            <a:ext cx="329184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Free runners next to the code, no extra server to patch. The quality gate decides if a new model is allowed through.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Poppins"/>
                <a:cs typeface="Poppins"/>
              </a:rPr>
              <a:t>Model Training Pipeline (CI)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A8172-0660-0085-F8D4-10AC79A6DCC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049DC460-44E5-4B92-8A56-747FC2EA5C9A}" type="slidenum">
              <a:t>9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94944" y="1325880"/>
            <a:ext cx="2029968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325880"/>
            <a:ext cx="2029968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50876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5B9BD5"/>
                </a:solidFill>
                <a:latin typeface="Poppi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810512"/>
            <a:ext cx="1691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Poppins"/>
              </a:rPr>
              <a:t>Fetch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331720"/>
            <a:ext cx="169164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0" i="0">
                <a:solidFill>
                  <a:srgbClr val="44546A"/>
                </a:solidFill>
                <a:latin typeface="Calibri"/>
              </a:rPr>
              <a:t>Daily weather for 8 cities from the Open-Meteo archive. Retries on rate limits and checks every CSV.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52344" y="2697480"/>
            <a:ext cx="173736" cy="173736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53512" y="1325880"/>
            <a:ext cx="2029968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53512" y="1325880"/>
            <a:ext cx="2029968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36392" y="150876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5B9BD5"/>
                </a:solidFill>
                <a:latin typeface="Poppin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1810512"/>
            <a:ext cx="1691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Poppins"/>
              </a:rPr>
              <a:t>Train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2331720"/>
            <a:ext cx="169164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0" i="0">
                <a:solidFill>
                  <a:srgbClr val="44546A"/>
                </a:solidFill>
                <a:latin typeface="Calibri"/>
              </a:rPr>
              <a:t>Trains the LSTM from config/train.yaml with early stopping and a fixed seed.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010912" y="2697480"/>
            <a:ext cx="173736" cy="173736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12080" y="1325880"/>
            <a:ext cx="2029968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12080" y="1325880"/>
            <a:ext cx="2029968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150876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5B9BD5"/>
                </a:solidFill>
                <a:latin typeface="Poppin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1810512"/>
            <a:ext cx="1691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Poppins"/>
              </a:rPr>
              <a:t>Quality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2331720"/>
            <a:ext cx="169164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0" i="0">
                <a:solidFill>
                  <a:srgbClr val="44546A"/>
                </a:solidFill>
                <a:latin typeface="Calibri"/>
              </a:rPr>
              <a:t>Seven automatic checks. The model must beat the baseline on all 7 days.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269480" y="2697480"/>
            <a:ext cx="173736" cy="173736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70648" y="1325880"/>
            <a:ext cx="2029968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70648" y="1325880"/>
            <a:ext cx="2029968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53527" y="150876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5B9BD5"/>
                </a:solidFill>
                <a:latin typeface="Poppin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53527" y="1810512"/>
            <a:ext cx="1691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Poppins"/>
              </a:rPr>
              <a:t>Upload to S3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3527" y="2331720"/>
            <a:ext cx="169164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0" i="0">
                <a:solidFill>
                  <a:srgbClr val="44546A"/>
                </a:solidFill>
                <a:latin typeface="Calibri"/>
              </a:rPr>
              <a:t>Only a passing model is synced to latest_model/, with an IAM user limited to that bucket.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528048" y="2697480"/>
            <a:ext cx="173736" cy="173736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29216" y="1325880"/>
            <a:ext cx="2029968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29216" y="1325880"/>
            <a:ext cx="2029968" cy="54864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12096" y="150876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5B9BD5"/>
                </a:solidFill>
                <a:latin typeface="Poppin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12096" y="1810512"/>
            <a:ext cx="1691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Poppins"/>
              </a:rPr>
              <a:t>Trigger Deploy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12096" y="2331720"/>
            <a:ext cx="169164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0" i="0">
                <a:solidFill>
                  <a:srgbClr val="44546A"/>
                </a:solidFill>
                <a:latin typeface="Calibri"/>
              </a:rPr>
              <a:t>workflow_run starts the agent pipeline, which bakes the new model into a fresh image.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4944" y="4800600"/>
            <a:ext cx="10872216" cy="1234440"/>
          </a:xfrm>
          <a:prstGeom prst="roundRect">
            <a:avLst>
              <a:gd name="adj" fmla="val 10000"/>
            </a:avLst>
          </a:prstGeom>
          <a:solidFill>
            <a:srgbClr val="E7E6E6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892040"/>
            <a:ext cx="104241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44546A"/>
                </a:solidFill>
                <a:latin typeface="Calibri"/>
              </a:rPr>
              <a:t>Gate checks: </a:t>
            </a:r>
            <a:r>
              <a:rPr sz="1400" b="0" i="0">
                <a:solidFill>
                  <a:srgbClr val="44546A"/>
                </a:solidFill>
                <a:latin typeface="Calibri"/>
              </a:rPr>
              <a:t>files exist  |  files load  |  correct input/output shapes  |  beats baseline on every day  |  at least 5% better on average  |  predictions between -20 and 55 °C  |  data not older than 14 days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Poppins"/>
                <a:cs typeface="Poppins"/>
              </a:rPr>
              <a:t>Agent CI/CD Pipeline (Build and Deploy)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A8172-0660-0085-F8D4-10AC79A6DCC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049DC460-44E5-4B92-8A56-747FC2EA5C9A}" type="slidenum">
              <a:t>10</a:t>
            </a:fld>
            <a:endParaRPr lang="en-IN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26974557-0FBC-8A23-4B19-1D5978498025}"/>
              </a:ext>
            </a:extLst>
          </p:cNvPr>
          <p:cNvSpPr txBox="1"/>
          <p:nvPr/>
        </p:nvSpPr>
        <p:spPr>
          <a:xfrm>
            <a:off x="969264" y="1051560"/>
            <a:ext cx="10625328" cy="5029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Trigger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 :-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push to main, or automatically after Model-Training finishes (workflow_run)</a:t>
            </a:r>
          </a:p>
          <a:p>
            <a:pPr marL="342900" marR="0" lvl="0" indent="-34290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Fetch Model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 :-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download latest_model/ from S3</a:t>
            </a:r>
          </a:p>
          <a:p>
            <a:pPr marL="342900" marR="0" lvl="0" indent="-34290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Docker Login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 :-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Docker Hub with an access token kept in GitHub secrets</a:t>
            </a:r>
          </a:p>
          <a:p>
            <a:pPr marL="342900" marR="0" lvl="0" indent="-34290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Build Image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 :-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python:3.12-slim with code, LSTM model, vector store and embedding model inside</a:t>
            </a:r>
          </a:p>
          <a:p>
            <a:pPr marL="342900" marR="0" lvl="0" indent="-34290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Push Image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 :-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pratham2060/weather-backend, tagged latest and with the commit SHA</a:t>
            </a:r>
          </a:p>
          <a:p>
            <a:pPr marL="342900" marR="0" lvl="0" indent="-34290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Deploy to EC2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 :-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over SSH: docker pull, stop old container, run new one on port 8000</a:t>
            </a:r>
          </a:p>
          <a:p>
            <a:pPr marL="342900" marR="0" lvl="0" indent="-34290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Frontend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 :-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React on Vercel; a serverless proxy forwards /api/chat to EC2</a:t>
            </a:r>
          </a:p>
          <a:p>
            <a:pPr marL="342900" marR="0" lvl="0" indent="-34290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Concurrency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 :-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one shared group, so training and deployment never run over each other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Poppins"/>
                <a:cs typeface="Poppins"/>
              </a:rPr>
              <a:t>Challenges and Fixes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A8172-0660-0085-F8D4-10AC79A6DCC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049DC460-44E5-4B92-8A56-747FC2EA5C9A}" type="slidenum">
              <a:t>11</a:t>
            </a:fld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384048" y="1024128"/>
            <a:ext cx="448056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  <a:latin typeface="Poppins"/>
              </a:rPr>
              <a:t>What went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024128"/>
            <a:ext cx="649224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44546A"/>
                </a:solidFill>
                <a:latin typeface="Poppins"/>
              </a:rPr>
              <a:t>How I fixed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371600"/>
            <a:ext cx="4526280" cy="7863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D7D31"/>
            </a:solidFill>
            <a:prstDash val="dash"/>
          </a:ln>
        </p:spPr>
        <p:txBody>
          <a:bodyPr rtlCol="0" anchor="ctr" lIns="73152" rIns="73152" tIns="36576" bIns="36576" wrap="square"/>
          <a:lstStyle/>
          <a:p>
            <a:pPr algn="l"/>
            <a:r>
              <a:rPr sz="1300" b="1" i="0">
                <a:solidFill>
                  <a:srgbClr val="C55A11"/>
                </a:solidFill>
                <a:latin typeface="Calibri"/>
              </a:rPr>
              <a:t>API key pushed in a notebook; GitHub push protection blocked the push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83480" y="1673352"/>
            <a:ext cx="228600" cy="182880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0" y="1371600"/>
            <a:ext cx="6492240" cy="786384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Revoked the key and cleaned history with git filter-repo (repo 65 MB to 6.7 MB). Keys now live only in .env and GitHub secrets.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322576"/>
            <a:ext cx="4526280" cy="7863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D7D31"/>
            </a:solidFill>
            <a:prstDash val="dash"/>
          </a:ln>
        </p:spPr>
        <p:txBody>
          <a:bodyPr rtlCol="0" anchor="ctr" lIns="73152" rIns="73152" tIns="36576" bIns="36576" wrap="square"/>
          <a:lstStyle/>
          <a:p>
            <a:pPr algn="l"/>
            <a:r>
              <a:rPr sz="1300" b="1" i="0">
                <a:solidFill>
                  <a:srgbClr val="C55A11"/>
                </a:solidFill>
                <a:latin typeface="Calibri"/>
              </a:rPr>
              <a:t>EC2 deploy failed: no space left on device (8 GB disk, 2.6 GB image)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983480" y="2624328"/>
            <a:ext cx="228600" cy="182880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0" y="2322576"/>
            <a:ext cx="6492240" cy="786384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Grew the EBS volume to 30 GB (growpart + resize2fs). Measured RAM use: about 1 GB.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273552"/>
            <a:ext cx="4526280" cy="7863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D7D31"/>
            </a:solidFill>
            <a:prstDash val="dash"/>
          </a:ln>
        </p:spPr>
        <p:txBody>
          <a:bodyPr rtlCol="0" anchor="ctr" lIns="73152" rIns="73152" tIns="36576" bIns="36576" wrap="square"/>
          <a:lstStyle/>
          <a:p>
            <a:pPr algn="l"/>
            <a:r>
              <a:rPr sz="1300" b="1" i="0">
                <a:solidFill>
                  <a:srgbClr val="C55A11"/>
                </a:solidFill>
                <a:latin typeface="Calibri"/>
              </a:rPr>
              <a:t>Vercel page (https) could not call the EC2 API (http): mixed content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83480" y="3575304"/>
            <a:ext cx="228600" cy="182880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03520" y="3273552"/>
            <a:ext cx="6492240" cy="786384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Added a small serverless proxy (api/chat.js) on Vercel, so the browser only talks https.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4224528"/>
            <a:ext cx="4526280" cy="7863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D7D31"/>
            </a:solidFill>
            <a:prstDash val="dash"/>
          </a:ln>
        </p:spPr>
        <p:txBody>
          <a:bodyPr rtlCol="0" anchor="ctr" lIns="73152" rIns="73152" tIns="36576" bIns="36576" wrap="square"/>
          <a:lstStyle/>
          <a:p>
            <a:pPr algn="l"/>
            <a:r>
              <a:rPr sz="1300" b="1" i="0">
                <a:solidFill>
                  <a:srgbClr val="C55A11"/>
                </a:solidFill>
                <a:latin typeface="Calibri"/>
              </a:rPr>
              <a:t>Groq rejected tool calls when tool arguments used enum types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983480" y="4526280"/>
            <a:ext cx="228600" cy="182880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03520" y="4224528"/>
            <a:ext cx="6492240" cy="786384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Switched to plain string arguments validated inside each tool, plus try/except around the agent.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5175504"/>
            <a:ext cx="4526280" cy="7863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D7D31"/>
            </a:solidFill>
            <a:prstDash val="dash"/>
          </a:ln>
        </p:spPr>
        <p:txBody>
          <a:bodyPr rtlCol="0" anchor="ctr" lIns="73152" rIns="73152" tIns="36576" bIns="36576" wrap="square"/>
          <a:lstStyle/>
          <a:p>
            <a:pPr algn="l"/>
            <a:r>
              <a:rPr sz="1300" b="1" i="0">
                <a:solidFill>
                  <a:srgbClr val="C55A11"/>
                </a:solidFill>
                <a:latin typeface="Calibri"/>
              </a:rPr>
              <a:t>Open-Meteo returned 429 (rate limit) while fetching 8 cities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983480" y="5477256"/>
            <a:ext cx="228600" cy="182880"/>
          </a:xfrm>
          <a:prstGeom prst="rightArrow">
            <a:avLst/>
          </a:prstGeom>
          <a:solidFill>
            <a:srgbClr val="A5A5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03520" y="5175504"/>
            <a:ext cx="6492240" cy="786384"/>
          </a:xfrm>
          <a:prstGeom prst="roundRect">
            <a:avLst>
              <a:gd name="adj" fmla="val 16000"/>
            </a:avLst>
          </a:prstGeom>
          <a:solidFill>
            <a:srgbClr val="E7E6E6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l"/>
            <a:r>
              <a:rPr sz="1300" b="0" i="0">
                <a:solidFill>
                  <a:srgbClr val="000000"/>
                </a:solidFill>
                <a:latin typeface="Calibri"/>
              </a:rPr>
              <a:t>Wait 65 s and retry. Files are written only after every city downloads successfully.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Poppins"/>
                <a:cs typeface="Poppins"/>
              </a:rPr>
              <a:t>What I Learned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A8172-0660-0085-F8D4-10AC79A6DCC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049DC460-44E5-4B92-8A56-747FC2EA5C9A}" type="slidenum">
              <a:t>12</a:t>
            </a:fld>
            <a:endParaRPr lang="en-IN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26974557-0FBC-8A23-4B19-1D5978498025}"/>
              </a:ext>
            </a:extLst>
          </p:cNvPr>
          <p:cNvSpPr txBox="1"/>
          <p:nvPr/>
        </p:nvSpPr>
        <p:spPr>
          <a:xfrm>
            <a:off x="969264" y="1051560"/>
            <a:ext cx="10625328" cy="5029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Start with a baseline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 :-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a model is only useful if it beats "tomorrow = today"</a:t>
            </a:r>
          </a:p>
          <a:p>
            <a:pPr marL="342900" marR="0" lvl="0" indent="-34290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Data shape drives retrieval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 :-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metadata filters mattered more than the embedding model</a:t>
            </a:r>
          </a:p>
          <a:p>
            <a:pPr marL="342900" marR="0" lvl="0" indent="-34290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Keep the agent small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 :-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one ReAct agent with clear tools was enough</a:t>
            </a:r>
          </a:p>
          <a:p>
            <a:pPr marL="342900" marR="0" lvl="0" indent="-34290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Gate before you ship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 :-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automatic checks stop a bad model from reaching users</a:t>
            </a:r>
          </a:p>
          <a:p>
            <a:pPr marL="342900" marR="0" lvl="0" indent="-34290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Build once, deploy the same image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 :-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model, vector store and code move together</a:t>
            </a:r>
          </a:p>
          <a:p>
            <a:pPr marL="342900" marR="0" lvl="0" indent="-34290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Never commit secrets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 :-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.env locally, GitHub secrets in CI, least-privilege IAM</a:t>
            </a:r>
          </a:p>
          <a:p>
            <a:pPr marL="342900" marR="0" lvl="0" indent="-34290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Size infra from measurements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 :-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RAM, image size and disk were measured, not guessed</a:t>
            </a:r>
          </a:p>
          <a:p>
            <a:pPr marL="342900" marR="0" lvl="0" indent="-34290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Read the logs first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 :-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429s, mixed content and tool errors were all clear in the logs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Poppins"/>
                <a:cs typeface="Poppins"/>
              </a:rPr>
              <a:t>Next Steps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A8172-0660-0085-F8D4-10AC79A6DCC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049DC460-44E5-4B92-8A56-747FC2EA5C9A}" type="slidenum">
              <a:t>13</a:t>
            </a:fld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4163A44-CA05-6CB0-84D0-67F78702C185}"/>
              </a:ext>
            </a:extLst>
          </p:cNvPr>
          <p:cNvSpPr txBox="1"/>
          <p:nvPr/>
        </p:nvSpPr>
        <p:spPr>
          <a:xfrm>
            <a:off x="969264" y="1051560"/>
            <a:ext cx="10058400" cy="5029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Persistent memory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 :-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replace in-memory MemorySaver with a SQLite/Postgres checkpointer</a:t>
            </a:r>
          </a:p>
          <a:p>
            <a:pPr marL="285750" marR="0" lvl="0" indent="-285750" algn="l" defTabSz="914400" rtl="0" fontAlgn="auto" hangingPunct="1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Scheduled retraining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 :-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run the training workflow weekly on a cron schedule</a:t>
            </a:r>
          </a:p>
          <a:p>
            <a:pPr marL="285750" marR="0" lvl="0" indent="-285750" algn="l" defTabSz="914400" rtl="0" fontAlgn="auto" hangingPunct="1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Stable endpoint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 :-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Elastic IP, a domain and HTTPS directly on the backend</a:t>
            </a:r>
          </a:p>
          <a:p>
            <a:pPr marL="285750" marR="0" lvl="0" indent="-285750" algn="l" defTabSz="914400" rtl="0" fontAlgn="auto" hangingPunct="1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Protect the API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 :-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authentication and rate limiting on /chat</a:t>
            </a:r>
          </a:p>
          <a:p>
            <a:pPr marL="285750" marR="0" lvl="0" indent="-285750" algn="l" defTabSz="914400" rtl="0" fontAlgn="auto" hangingPunct="1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Monitoring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 :-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response time, error rate and model drift dashboards</a:t>
            </a:r>
          </a:p>
          <a:p>
            <a:pPr marL="285750" marR="0" lvl="0" indent="-285750" algn="l" defTabSz="914400" rtl="0" fontAlgn="auto" hangingPunct="1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Housekeeping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 :-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swap on EC2 and docker image prune on every deploy</a:t>
            </a:r>
          </a:p>
          <a:p>
            <a:pPr marL="285750" marR="0" lvl="0" indent="-285750" algn="l" defTabSz="914400" rtl="0" fontAlgn="auto" hangingPunct="1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More cities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 :- 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extend the knowledge base beyond Delhi, Pune and Kolkata</a:t>
            </a:r>
          </a:p>
        </p:txBody>
      </p:sp>
    </p:spTree>
  </p:cSld>
  <p:clrMapOvr>
    <a:masterClrMapping/>
  </p:clrMapOvr>
</p:sld>
</file>

<file path=ppt/slides/slide9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36E52-F157-FD12-EB78-24838C726432}"/>
              </a:ext>
            </a:extLst>
          </p:cNvPr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IN">
                <a:latin typeface="Poppins"/>
                <a:ea typeface="Lato"/>
                <a:cs typeface="Poppins"/>
              </a:rPr>
              <a:t>Weather Intelligence Assistant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C7BC2B-E920-C9E1-CC67-1802CAD05C6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004163" y="3131728"/>
            <a:ext cx="7315200" cy="384477"/>
          </a:xfrm>
        </p:spPr>
        <p:txBody>
          <a:bodyPr/>
          <a:lstStyle/>
          <a:p>
            <a:pPr lvl="0"/>
            <a:r>
              <a:rPr lang="en-IN">
                <a:latin typeface="Poppins"/>
                <a:ea typeface="Lato"/>
                <a:cs typeface="Poppins"/>
              </a:rPr>
              <a:t>KT Session By: Prathamesh Jadhav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D97C4-55A5-18F0-09AE-014FA4DAB0C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CFFC4DF0-9232-4412-89A3-14A396B94E5E}" type="slidenum">
              <a:t>1</a:t>
            </a:fld>
            <a:endParaRPr lang="en-IN"/>
          </a:p>
        </p:txBody>
      </p:sp>
    </p:spTree>
  </p:cSld>
  <p:clrMapOvr>
    <a:masterClrMapping/>
  </p:clrMapOvr>
</p:sld>
</file>

<file path=ppt/slides/slide9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C68E578C-7F68-93F0-EE0A-3997D6A1D64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/>
              <a:t>Index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00285222-30D8-7279-BB05-78C911FBC1CE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Arial" pitchFamily="34"/>
              <a:buChar char="•"/>
            </a:pPr>
            <a:r>
              <a:rPr lang="en-US">
                <a:latin typeface="Poppins"/>
                <a:ea typeface="Lato"/>
                <a:cs typeface="Poppins"/>
              </a:rPr>
              <a:t>Problem Statement</a:t>
            </a:r>
            <a:endParaRPr lang="en-US"/>
          </a:p>
          <a:p>
            <a:pPr lvl="0">
              <a:buFont typeface="Arial" pitchFamily="34"/>
              <a:buChar char="•"/>
            </a:pPr>
            <a:r>
              <a:rPr lang="en-US">
                <a:latin typeface="Poppins"/>
                <a:ea typeface="Lato"/>
                <a:cs typeface="Poppins"/>
              </a:rPr>
              <a:t>Overall Architecture</a:t>
            </a:r>
            <a:endParaRPr lang="en-US"/>
          </a:p>
          <a:p>
            <a:pPr lvl="0">
              <a:buFont typeface="Arial" pitchFamily="34"/>
              <a:buChar char="•"/>
            </a:pPr>
            <a:r>
              <a:rPr lang="en-US">
                <a:latin typeface="Poppins"/>
                <a:ea typeface="Lato"/>
                <a:cs typeface="Poppins"/>
              </a:rPr>
              <a:t>Forecast Model (LSTM)</a:t>
            </a:r>
            <a:endParaRPr lang="en-US"/>
          </a:p>
          <a:p>
            <a:pPr lvl="0">
              <a:buFont typeface="Arial" pitchFamily="34"/>
              <a:buChar char="•"/>
            </a:pPr>
            <a:r>
              <a:rPr lang="en-US">
                <a:latin typeface="Poppins"/>
                <a:ea typeface="Lato"/>
                <a:cs typeface="Poppins"/>
              </a:rPr>
              <a:t>RAG Knowledge Base</a:t>
            </a:r>
            <a:endParaRPr lang="en-US"/>
          </a:p>
          <a:p>
            <a:pPr lvl="0">
              <a:buFont typeface="Arial" pitchFamily="34"/>
              <a:buChar char="•"/>
            </a:pPr>
            <a:r>
              <a:rPr lang="en-US">
                <a:latin typeface="Poppins"/>
                <a:ea typeface="Lato"/>
                <a:cs typeface="Poppins"/>
              </a:rPr>
              <a:t>LangGraph Agent</a:t>
            </a:r>
            <a:endParaRPr lang="en-US"/>
          </a:p>
          <a:p>
            <a:pPr lvl="0">
              <a:buFont typeface="Arial" pitchFamily="34"/>
              <a:buChar char="•"/>
            </a:pPr>
            <a:r>
              <a:rPr lang="en-US">
                <a:latin typeface="Poppins"/>
                <a:ea typeface="Lato"/>
                <a:cs typeface="Poppins"/>
              </a:rPr>
              <a:t>Key Design Decisions</a:t>
            </a:r>
            <a:endParaRPr lang="en-US"/>
          </a:p>
          <a:p>
            <a:pPr lvl="0">
              <a:buFont typeface="Arial" pitchFamily="34"/>
              <a:buChar char="•"/>
            </a:pPr>
            <a:r>
              <a:rPr lang="en-US">
                <a:latin typeface="Poppins"/>
                <a:ea typeface="Lato"/>
                <a:cs typeface="Poppins"/>
              </a:rPr>
              <a:t>Model Training Pipeline</a:t>
            </a:r>
            <a:endParaRPr lang="en-US"/>
          </a:p>
          <a:p>
            <a:pPr lvl="0">
              <a:buFont typeface="Arial" pitchFamily="34"/>
              <a:buChar char="•"/>
            </a:pPr>
            <a:r>
              <a:rPr lang="en-US">
                <a:latin typeface="Poppins"/>
                <a:ea typeface="Lato"/>
                <a:cs typeface="Poppins"/>
              </a:rPr>
              <a:t>Agent CI/CD Pipeline</a:t>
            </a:r>
            <a:endParaRPr lang="en-US"/>
          </a:p>
          <a:p>
            <a:pPr lvl="0">
              <a:buFont typeface="Arial" pitchFamily="34"/>
              <a:buChar char="•"/>
            </a:pPr>
            <a:r>
              <a:rPr lang="en-US">
                <a:latin typeface="Poppins"/>
                <a:ea typeface="Lato"/>
                <a:cs typeface="Poppins"/>
              </a:rPr>
              <a:t>Challenges and Fixes</a:t>
            </a:r>
            <a:endParaRPr lang="en-US"/>
          </a:p>
          <a:p>
            <a:pPr lvl="0">
              <a:buFont typeface="Arial" pitchFamily="34"/>
              <a:buChar char="•"/>
            </a:pPr>
            <a:r>
              <a:rPr lang="en-US">
                <a:latin typeface="Poppins"/>
                <a:ea typeface="Lato"/>
                <a:cs typeface="Poppins"/>
              </a:rPr>
              <a:t>Live Demonstration</a:t>
            </a:r>
            <a:endParaRPr lang="en-US"/>
          </a:p>
          <a:p>
            <a:pPr lvl="0">
              <a:buFont typeface="Arial" pitchFamily="34"/>
              <a:buChar char="•"/>
            </a:pPr>
            <a:r>
              <a:rPr lang="en-US">
                <a:latin typeface="Poppins"/>
                <a:ea typeface="Lato"/>
                <a:cs typeface="Poppins"/>
              </a:rPr>
              <a:t>What I Learned</a:t>
            </a:r>
            <a:endParaRPr lang="en-US"/>
          </a:p>
          <a:p>
            <a:pPr lvl="0">
              <a:buFont typeface="Arial" pitchFamily="34"/>
              <a:buChar char="•"/>
            </a:pPr>
            <a:r>
              <a:rPr lang="en-US">
                <a:latin typeface="Poppins"/>
                <a:ea typeface="Lato"/>
                <a:cs typeface="Poppins"/>
              </a:rPr>
              <a:t>Next Steps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A8172-0660-0085-F8D4-10AC79A6DCC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049DC460-44E5-4B92-8A56-747FC2EA5C9A}" type="slidenum">
              <a:t>2</a:t>
            </a:fld>
            <a:endParaRPr lang="en-IN"/>
          </a:p>
        </p:txBody>
      </p:sp>
    </p:spTree>
  </p:cSld>
  <p:clrMapOvr>
    <a:masterClrMapping/>
  </p:clrMapOvr>
</p:sld>
</file>

<file path=ppt/slides/slide9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2C3FB-EF62-8182-7718-FD295BF8BDCC}"/>
              </a:ext>
            </a:extLst>
          </p:cNvPr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IN"/>
              <a:t>Thanks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A3C9C-0DE7-1E48-45FD-858068CA070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789A7334-C2B0-458F-9F2A-E5AEEAFDF000}" type="slidenum">
              <a:t>14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719</Words>
  <Application>Microsoft Office PowerPoint</Application>
  <PresentationFormat>Widescreen</PresentationFormat>
  <Paragraphs>109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Lato</vt:lpstr>
      <vt:lpstr>Poppins</vt:lpstr>
      <vt:lpstr>Custom Design</vt:lpstr>
      <vt:lpstr>Continuous integrations and Continuous Deployment</vt:lpstr>
      <vt:lpstr>Index</vt:lpstr>
      <vt:lpstr>The "Manual" Deployment Process</vt:lpstr>
      <vt:lpstr>CI/CD Fundamentals &amp; Terminology</vt:lpstr>
      <vt:lpstr>The 5-Stage Pipeline Architecture </vt:lpstr>
      <vt:lpstr>Github Actions and workflows </vt:lpstr>
      <vt:lpstr>Tools Comparisions </vt:lpstr>
      <vt:lpstr>BESS CI Pipeline</vt:lpstr>
      <vt:lpstr>BESS CD Pipeline</vt:lpstr>
      <vt:lpstr>  8 Rules For Making Pipeline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CCTech Power Point Template</dc:title>
  <dc:subject>CCTech Power Point Template</dc:subject>
  <dc:creator>Vijay</dc:creator>
  <dc:description>© 2006 - Current, Centre for Computational Technologies Pvt. Ltd.</dc:description>
  <cp:lastModifiedBy>Prathmesh Jadhav</cp:lastModifiedBy>
  <cp:revision>114</cp:revision>
  <dcterms:created xsi:type="dcterms:W3CDTF">2015-07-10T06:23:21Z</dcterms:created>
  <dcterms:modified xsi:type="dcterms:W3CDTF">2026-10-11T05:42:53Z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0x01010069DDD285FF8A3C4E81C5E90BDA0C1E6E</vt:lpwstr>
  </property>
  <property fmtid="{D5CDD505-2E9C-101B-9397-08002B2CF9AE}" pid="3" name="MediaServiceImageTags">
    <vt:lpwstr/>
  </property>
</Properties>
</file>